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9" r:id="rId4"/>
    <p:sldId id="260" r:id="rId5"/>
    <p:sldId id="261" r:id="rId6"/>
    <p:sldId id="262" r:id="rId7"/>
    <p:sldId id="268" r:id="rId8"/>
    <p:sldId id="258" r:id="rId9"/>
    <p:sldId id="263"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59" autoAdjust="0"/>
    <p:restoredTop sz="94610"/>
  </p:normalViewPr>
  <p:slideViewPr>
    <p:cSldViewPr snapToGrid="0" snapToObjects="1">
      <p:cViewPr varScale="1">
        <p:scale>
          <a:sx n="78" d="100"/>
          <a:sy n="78" d="100"/>
        </p:scale>
        <p:origin x="9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Respondents</c:v>
                </c:pt>
              </c:strCache>
            </c:strRef>
          </c:tx>
          <c:spPr>
            <a:solidFill>
              <a:srgbClr val="0D7377"/>
            </a:solidFill>
            <a:effectLst/>
          </c:spPr>
          <c:invertIfNegative val="0"/>
          <c:dPt>
            <c:idx val="0"/>
            <c:invertIfNegative val="0"/>
            <c:bubble3D val="0"/>
            <c:extLst>
              <c:ext xmlns:c16="http://schemas.microsoft.com/office/drawing/2014/chart" uri="{C3380CC4-5D6E-409C-BE32-E72D297353CC}">
                <c16:uniqueId val="{00000001-FDB7-4E6F-A2BC-44A67B939B44}"/>
              </c:ext>
            </c:extLst>
          </c:dPt>
          <c:dPt>
            <c:idx val="1"/>
            <c:invertIfNegative val="0"/>
            <c:bubble3D val="0"/>
            <c:spPr>
              <a:solidFill>
                <a:srgbClr val="1A9CA3"/>
              </a:solidFill>
              <a:effectLst/>
            </c:spPr>
            <c:extLst>
              <c:ext xmlns:c16="http://schemas.microsoft.com/office/drawing/2014/chart" uri="{C3380CC4-5D6E-409C-BE32-E72D297353CC}">
                <c16:uniqueId val="{00000003-FDB7-4E6F-A2BC-44A67B939B44}"/>
              </c:ext>
            </c:extLst>
          </c:dPt>
          <c:dPt>
            <c:idx val="2"/>
            <c:invertIfNegative val="0"/>
            <c:bubble3D val="0"/>
            <c:spPr>
              <a:solidFill>
                <a:srgbClr val="52C9D0"/>
              </a:solidFill>
              <a:effectLst/>
            </c:spPr>
            <c:extLst>
              <c:ext xmlns:c16="http://schemas.microsoft.com/office/drawing/2014/chart" uri="{C3380CC4-5D6E-409C-BE32-E72D297353CC}">
                <c16:uniqueId val="{00000005-FDB7-4E6F-A2BC-44A67B939B44}"/>
              </c:ext>
            </c:extLst>
          </c:dPt>
          <c:dPt>
            <c:idx val="3"/>
            <c:invertIfNegative val="0"/>
            <c:bubble3D val="0"/>
            <c:spPr>
              <a:solidFill>
                <a:srgbClr val="A8E6EA"/>
              </a:solidFill>
              <a:effectLst/>
            </c:spPr>
            <c:extLst>
              <c:ext xmlns:c16="http://schemas.microsoft.com/office/drawing/2014/chart" uri="{C3380CC4-5D6E-409C-BE32-E72D297353CC}">
                <c16:uniqueId val="{00000007-FDB7-4E6F-A2BC-44A67B939B44}"/>
              </c:ext>
            </c:extLst>
          </c:dPt>
          <c:dLbls>
            <c:numFmt formatCode="#,##0" sourceLinked="0"/>
            <c:spPr>
              <a:noFill/>
              <a:ln>
                <a:noFill/>
              </a:ln>
              <a:effectLst/>
            </c:spPr>
            <c:txPr>
              <a:bodyPr/>
              <a:lstStyle/>
              <a:p>
                <a:pPr>
                  <a:defRPr sz="11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18–22 yrs</c:v>
                </c:pt>
                <c:pt idx="1">
                  <c:v>23–27 yrs</c:v>
                </c:pt>
                <c:pt idx="2">
                  <c:v>28–35 yrs</c:v>
                </c:pt>
                <c:pt idx="3">
                  <c:v>35+ yrs</c:v>
                </c:pt>
              </c:strCache>
            </c:strRef>
          </c:cat>
          <c:val>
            <c:numRef>
              <c:f>Sheet1!$B$2:$B$5</c:f>
              <c:numCache>
                <c:formatCode>General</c:formatCode>
                <c:ptCount val="4"/>
                <c:pt idx="0">
                  <c:v>45</c:v>
                </c:pt>
                <c:pt idx="1">
                  <c:v>23</c:v>
                </c:pt>
                <c:pt idx="2">
                  <c:v>9</c:v>
                </c:pt>
                <c:pt idx="3">
                  <c:v>4</c:v>
                </c:pt>
              </c:numCache>
            </c:numRef>
          </c:val>
          <c:extLst>
            <c:ext xmlns:c16="http://schemas.microsoft.com/office/drawing/2014/chart" uri="{C3380CC4-5D6E-409C-BE32-E72D297353CC}">
              <c16:uniqueId val="{00000008-FDB7-4E6F-A2BC-44A67B939B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Platform</c:v>
                </c:pt>
              </c:strCache>
            </c:strRef>
          </c:tx>
          <c:spPr>
            <a:solidFill>
              <a:schemeClr val="accent1"/>
            </a:solidFill>
            <a:ln w="9525" cap="flat">
              <a:solidFill>
                <a:srgbClr val="F9F9F9"/>
              </a:solidFill>
              <a:prstDash val="solid"/>
              <a:round/>
            </a:ln>
            <a:effectLst/>
          </c:spPr>
          <c:dPt>
            <c:idx val="0"/>
            <c:bubble3D val="0"/>
            <c:spPr>
              <a:solidFill>
                <a:srgbClr val="1B2A4A"/>
              </a:solidFill>
              <a:effectLst/>
            </c:spPr>
            <c:extLst>
              <c:ext xmlns:c16="http://schemas.microsoft.com/office/drawing/2014/chart" uri="{C3380CC4-5D6E-409C-BE32-E72D297353CC}">
                <c16:uniqueId val="{00000001-BFEF-4071-8D6A-644939F3C781}"/>
              </c:ext>
            </c:extLst>
          </c:dPt>
          <c:dPt>
            <c:idx val="1"/>
            <c:bubble3D val="0"/>
            <c:spPr>
              <a:solidFill>
                <a:srgbClr val="0D7377"/>
              </a:solidFill>
              <a:effectLst/>
            </c:spPr>
            <c:extLst>
              <c:ext xmlns:c16="http://schemas.microsoft.com/office/drawing/2014/chart" uri="{C3380CC4-5D6E-409C-BE32-E72D297353CC}">
                <c16:uniqueId val="{00000003-BFEF-4071-8D6A-644939F3C781}"/>
              </c:ext>
            </c:extLst>
          </c:dPt>
          <c:dPt>
            <c:idx val="2"/>
            <c:bubble3D val="0"/>
            <c:spPr>
              <a:solidFill>
                <a:srgbClr val="14BDCE"/>
              </a:solidFill>
              <a:effectLst/>
            </c:spPr>
            <c:extLst>
              <c:ext xmlns:c16="http://schemas.microsoft.com/office/drawing/2014/chart" uri="{C3380CC4-5D6E-409C-BE32-E72D297353CC}">
                <c16:uniqueId val="{00000005-BFEF-4071-8D6A-644939F3C781}"/>
              </c:ext>
            </c:extLst>
          </c:dPt>
          <c:dPt>
            <c:idx val="3"/>
            <c:bubble3D val="0"/>
            <c:spPr>
              <a:solidFill>
                <a:srgbClr val="C8A951"/>
              </a:solidFill>
              <a:effectLst/>
            </c:spPr>
            <c:extLst>
              <c:ext xmlns:c16="http://schemas.microsoft.com/office/drawing/2014/chart" uri="{C3380CC4-5D6E-409C-BE32-E72D297353CC}">
                <c16:uniqueId val="{00000007-BFEF-4071-8D6A-644939F3C781}"/>
              </c:ext>
            </c:extLst>
          </c:dPt>
          <c:dPt>
            <c:idx val="4"/>
            <c:bubble3D val="0"/>
            <c:spPr>
              <a:solidFill>
                <a:srgbClr val="A0AEC0"/>
              </a:solidFill>
              <a:effectLst/>
            </c:spPr>
            <c:extLst>
              <c:ext xmlns:c16="http://schemas.microsoft.com/office/drawing/2014/chart" uri="{C3380CC4-5D6E-409C-BE32-E72D297353CC}">
                <c16:uniqueId val="{00000009-BFEF-4071-8D6A-644939F3C781}"/>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FEF-4071-8D6A-644939F3C781}"/>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FEF-4071-8D6A-644939F3C781}"/>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BFEF-4071-8D6A-644939F3C781}"/>
                </c:ext>
              </c:extLst>
            </c:dLbl>
            <c:dLbl>
              <c:idx val="3"/>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FEF-4071-8D6A-644939F3C781}"/>
                </c:ext>
              </c:extLst>
            </c:dLbl>
            <c:dLbl>
              <c:idx val="4"/>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FEF-4071-8D6A-644939F3C78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Daraz</c:v>
                </c:pt>
                <c:pt idx="1">
                  <c:v>Instagram/FB</c:v>
                </c:pt>
                <c:pt idx="2">
                  <c:v>Other</c:v>
                </c:pt>
                <c:pt idx="3">
                  <c:v>Amazon</c:v>
                </c:pt>
                <c:pt idx="4">
                  <c:v>Shein</c:v>
                </c:pt>
              </c:strCache>
            </c:strRef>
          </c:cat>
          <c:val>
            <c:numRef>
              <c:f>Sheet1!$B$2:$B$6</c:f>
              <c:numCache>
                <c:formatCode>General</c:formatCode>
                <c:ptCount val="5"/>
                <c:pt idx="0">
                  <c:v>33</c:v>
                </c:pt>
                <c:pt idx="1">
                  <c:v>27</c:v>
                </c:pt>
                <c:pt idx="2">
                  <c:v>10</c:v>
                </c:pt>
                <c:pt idx="3">
                  <c:v>7</c:v>
                </c:pt>
                <c:pt idx="4">
                  <c:v>4</c:v>
                </c:pt>
              </c:numCache>
            </c:numRef>
          </c:val>
          <c:extLst>
            <c:ext xmlns:c16="http://schemas.microsoft.com/office/drawing/2014/chart" uri="{C3380CC4-5D6E-409C-BE32-E72D297353CC}">
              <c16:uniqueId val="{0000000A-BFEF-4071-8D6A-644939F3C781}"/>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7444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Consumer Trust in Online Reviews. This study was conducted as part of the Applied Statistics course under Dr. Faridoon Khan at Air University, Islamabad. Our group analyzed data from 81 Pakistani online shoppers to understand how reviews influence purchasing behavior. The analysis applies five non-parametric statistical tests due to non-normally distributed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Pakistan's e-commerce landscape is expanding rapidly, making consumer trust in digital reviews a pressing research topic. This study investigates five key research areas: how much Pakistani shoppers trust reviews, the disproportionate influence of negative reviews, willingness to pay premium prices, differences across demographic groups, and whether habitual review-checking correlates with higher trust. The findings have practical implications for both consumers and e-commerce businesses.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used a Google Forms survey distributed to 81 respondents between May 18–30, 2026. Variables were measured using Likert-scale items and recoded numerically in SPSS for analysis. Notably, age was grouped into two categories for the Chi-Square test, and review-checking behavior was dichotomized. Because the Shapiro-Wilk test revealed non-normal distributions across all key variables, five non-parametric tests were selected to ensure valid inference.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skews young, with over 55% of respondents aged 18–22 years. This demographic profile is consistent with the primary user base of Pakistani e-commerce platforms. Daraz dominates platform usage at 40.7%, followed by Instagram and Facebook Shops at 33.3%. The heavy representation of younger respondents should be kept in mind when interpreting findings, as it may limit generalizability to older consumer segments.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statistics reveal that Negative Review Impact has the highest mean (3.90), suggesting respondents feel negative reviews affect their decisions more than their general trust level (3.42). Willingness to Pay More scored lowest (3.12), indicating moderate price sensitivity among respondents. All variables are measured on a 5-point Likert scale. The relatively similar standard deviations across variables indicate comparable variability in responses.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Shapiro-Wilk test was chosen because our sample size is under 2000 respondents. Results show that all three key variables — Trust in Reviews, Negative Review Impact, and Willingness to Pay More — significantly deviate from normality, with p &lt; .001 in all cases. This violation of the normality assumption means that parametric tests such as the t-test or ANOVA would be inappropriate. Therefore, we proceed with non-parametric alternatives throughout the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three-step data transformation process. First, all Google Forms text responses were recoded into numeric values so SPSS could run statistical tests. Second, value labels were added so SPSS output shows meaningful text rather than raw numbers. Third, for the Chi-Square test, age was grouped into 18–27 and 28+ years, and review-checking frequency was dichotomized into 'Sometimes or Less' and 'Usually or Always' to create a valid 2×2 contingency 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five research questions and their corresponding null and alternative hypotheses. All hypotheses were tested at a significance level of α = 0.05. If the p-value for any test falls below 0.05, we reject the null hypothesis and conclude there is a statistically significant result. The five non-parametric tests were selected based on the normality assessment conducted using the Shapiro-Wilk test.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Wilcoxon Signed-Rank Test compares two related samples from the same respondents — their trust level versus the impact of negative reviews. With 45 positive ranks versus 19 negative ranks, negative review impact scores are generally higher than trust scores. The Z-statistic of −2.997 and p-value of 0.003, well below α = 0.05, provide strong evidence to reject the null hypothesis. Pakistani consumers are disproportionately swayed by negative reviews.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Chi-Square test examines whether age group and review-checking frequency are statistically related. Age was recoded into two groups: 18–27 years and 28+ years. Review-checking behavior was dichotomized into 'Usually or Always' versus 'Sometimes or Less.' With χ² = 6.809 and p = .009, the association is significant at α = 0.05. Cramér's V of 0.366 indicates a moderate effect size, suggesting a practically meaningful difference in review habits across age groups.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Spearman's Correlation is appropriate here because both variables — review-checking frequency and trust in reviews — are ordinal, and the data violates normality assumptions. The coefficient of 0.247 indicates a weak but statistically significant positive association. While the relationship is not strong, it is consistent: people who habitually consult reviews develop a slightly higher baseline trust in them. The p-value of 0.026 confirms this is not a chance finding at α = 0.05.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all five test results. Three tests yielded significant results — the Wilcoxon Signed-Rank Test, Chi-Square Test, and Spearman Correlation — each with p-values below 0.05. Two tests, Mann-Whitney U and Kruskal-Wallis H, were non-significant. Together, these findings paint a nuanced picture: while negative reviews and age-related review habits matter, trust levels themselves are fairly consistent across demographic groups.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study found that online reviews significantly shape consumer behavior in Pakistan, with negative reviews having an outsized influence. Age predicts how frequently consumers consult reviews, and frequent checkers tend to trust reviews slightly more. However, trust levels themselves are remarkably uniform across age groups and return experience. Key limitations include the small, youth-heavy sample and self-reported data. Future research should address these by widening scope, adding demographics, and exploring longitudinal patterns.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377"/>
          </a:solidFill>
          <a:ln w="12700">
            <a:solidFill>
              <a:srgbClr val="0D7377"/>
            </a:solidFill>
            <a:prstDash val="solid"/>
          </a:ln>
        </p:spPr>
        <p:txBody>
          <a:bodyPr/>
          <a:lstStyle/>
          <a:p>
            <a:endParaRPr lang="en-US"/>
          </a:p>
        </p:txBody>
      </p:sp>
      <p:sp>
        <p:nvSpPr>
          <p:cNvPr id="3" name="Shape 1"/>
          <p:cNvSpPr/>
          <p:nvPr/>
        </p:nvSpPr>
        <p:spPr>
          <a:xfrm>
            <a:off x="0" y="5047488"/>
            <a:ext cx="9144000" cy="91440"/>
          </a:xfrm>
          <a:prstGeom prst="rect">
            <a:avLst/>
          </a:prstGeom>
          <a:solidFill>
            <a:srgbClr val="0D7377"/>
          </a:solidFill>
          <a:ln w="12700">
            <a:solidFill>
              <a:srgbClr val="0D7377"/>
            </a:solidFill>
            <a:prstDash val="solid"/>
          </a:ln>
        </p:spPr>
        <p:txBody>
          <a:bodyPr/>
          <a:lstStyle/>
          <a:p>
            <a:endParaRPr lang="en-US"/>
          </a:p>
        </p:txBody>
      </p:sp>
      <p:sp>
        <p:nvSpPr>
          <p:cNvPr id="4" name="Text 2"/>
          <p:cNvSpPr/>
          <p:nvPr/>
        </p:nvSpPr>
        <p:spPr>
          <a:xfrm>
            <a:off x="548640" y="594360"/>
            <a:ext cx="8046720" cy="91440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Consumer Trust in Online Reviews</a:t>
            </a:r>
            <a:endParaRPr lang="en-US" sz="3400" dirty="0"/>
          </a:p>
        </p:txBody>
      </p:sp>
      <p:sp>
        <p:nvSpPr>
          <p:cNvPr id="5" name="Text 3"/>
          <p:cNvSpPr/>
          <p:nvPr/>
        </p:nvSpPr>
        <p:spPr>
          <a:xfrm>
            <a:off x="548640" y="1463040"/>
            <a:ext cx="8046720" cy="502920"/>
          </a:xfrm>
          <a:prstGeom prst="rect">
            <a:avLst/>
          </a:prstGeom>
          <a:noFill/>
          <a:ln/>
        </p:spPr>
        <p:txBody>
          <a:bodyPr wrap="square" rtlCol="0" anchor="ctr"/>
          <a:lstStyle/>
          <a:p>
            <a:pPr marL="0" indent="0" algn="ctr">
              <a:buNone/>
            </a:pPr>
            <a:r>
              <a:rPr lang="en-US" sz="1800" i="1" dirty="0">
                <a:solidFill>
                  <a:srgbClr val="14BDCE"/>
                </a:solidFill>
                <a:latin typeface="Calibri" pitchFamily="34" charset="0"/>
                <a:ea typeface="Calibri" pitchFamily="34" charset="-122"/>
                <a:cs typeface="Calibri" pitchFamily="34" charset="-120"/>
              </a:rPr>
              <a:t>A Statistical Analysis of Pakistani Online Shoppers</a:t>
            </a:r>
            <a:endParaRPr lang="en-US" sz="1800" dirty="0"/>
          </a:p>
        </p:txBody>
      </p:sp>
      <p:sp>
        <p:nvSpPr>
          <p:cNvPr id="6" name="Shape 4"/>
          <p:cNvSpPr/>
          <p:nvPr/>
        </p:nvSpPr>
        <p:spPr>
          <a:xfrm>
            <a:off x="1371600" y="2029968"/>
            <a:ext cx="6400800" cy="0"/>
          </a:xfrm>
          <a:prstGeom prst="line">
            <a:avLst/>
          </a:prstGeom>
          <a:noFill/>
          <a:ln w="19050">
            <a:solidFill>
              <a:srgbClr val="0D7377"/>
            </a:solidFill>
            <a:prstDash val="solid"/>
          </a:ln>
        </p:spPr>
        <p:txBody>
          <a:bodyPr/>
          <a:lstStyle/>
          <a:p>
            <a:endParaRPr lang="en-US"/>
          </a:p>
        </p:txBody>
      </p:sp>
      <p:sp>
        <p:nvSpPr>
          <p:cNvPr id="8" name="Text 6"/>
          <p:cNvSpPr/>
          <p:nvPr/>
        </p:nvSpPr>
        <p:spPr>
          <a:xfrm>
            <a:off x="548640" y="3200400"/>
            <a:ext cx="8046720" cy="41148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Adeeha Shahzad (241125)  •  Khansa Aslam (242887)</a:t>
            </a:r>
            <a:endParaRPr lang="en-US" sz="1300" dirty="0"/>
          </a:p>
        </p:txBody>
      </p:sp>
      <p:sp>
        <p:nvSpPr>
          <p:cNvPr id="9" name="TextBox 8">
            <a:extLst>
              <a:ext uri="{FF2B5EF4-FFF2-40B4-BE49-F238E27FC236}">
                <a16:creationId xmlns:a16="http://schemas.microsoft.com/office/drawing/2014/main" id="{E7B8553A-A479-6075-F654-4EB767467848}"/>
              </a:ext>
            </a:extLst>
          </p:cNvPr>
          <p:cNvSpPr txBox="1"/>
          <p:nvPr/>
        </p:nvSpPr>
        <p:spPr>
          <a:xfrm>
            <a:off x="1371600" y="2895077"/>
            <a:ext cx="2637064" cy="400110"/>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Introduction &amp; Problem Statement</a:t>
            </a:r>
            <a:endParaRPr lang="en-US" sz="2200" dirty="0"/>
          </a:p>
        </p:txBody>
      </p:sp>
      <p:sp>
        <p:nvSpPr>
          <p:cNvPr id="4" name="Shape 2"/>
          <p:cNvSpPr/>
          <p:nvPr/>
        </p:nvSpPr>
        <p:spPr>
          <a:xfrm>
            <a:off x="274320" y="822960"/>
            <a:ext cx="4114800" cy="4023360"/>
          </a:xfrm>
          <a:prstGeom prst="rect">
            <a:avLst/>
          </a:prstGeom>
          <a:solidFill>
            <a:srgbClr val="F4F6F9"/>
          </a:solidFill>
          <a:ln w="12700">
            <a:solidFill>
              <a:srgbClr val="F4F6F9"/>
            </a:solidFill>
            <a:prstDash val="solid"/>
          </a:ln>
        </p:spPr>
        <p:txBody>
          <a:bodyPr/>
          <a:lstStyle/>
          <a:p>
            <a:endParaRPr lang="en-US"/>
          </a:p>
        </p:txBody>
      </p:sp>
      <p:sp>
        <p:nvSpPr>
          <p:cNvPr id="5" name="Text 3"/>
          <p:cNvSpPr/>
          <p:nvPr/>
        </p:nvSpPr>
        <p:spPr>
          <a:xfrm>
            <a:off x="411480" y="868680"/>
            <a:ext cx="3840480" cy="347472"/>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Background</a:t>
            </a:r>
            <a:endParaRPr lang="en-US" sz="1400" dirty="0"/>
          </a:p>
        </p:txBody>
      </p:sp>
      <p:sp>
        <p:nvSpPr>
          <p:cNvPr id="6" name="Text 4"/>
          <p:cNvSpPr/>
          <p:nvPr/>
        </p:nvSpPr>
        <p:spPr>
          <a:xfrm>
            <a:off x="411480" y="1234440"/>
            <a:ext cx="3840480" cy="3291840"/>
          </a:xfrm>
          <a:prstGeom prst="rect">
            <a:avLst/>
          </a:prstGeom>
          <a:noFill/>
          <a:ln/>
        </p:spPr>
        <p:txBody>
          <a:bodyPr wrap="square" rtlCol="0" anchor="ctr"/>
          <a:lstStyle/>
          <a:p>
            <a:pPr marL="0" indent="0">
              <a:buNone/>
            </a:pPr>
            <a:r>
              <a:rPr lang="en-US" sz="1250" dirty="0">
                <a:solidFill>
                  <a:srgbClr val="4A5568"/>
                </a:solidFill>
                <a:latin typeface="Calibri" pitchFamily="34" charset="0"/>
                <a:ea typeface="Calibri" pitchFamily="34" charset="-122"/>
                <a:cs typeface="Calibri" pitchFamily="34" charset="-120"/>
              </a:rPr>
              <a:t>E-commerce in Pakistan is growing rapidly, with millions of consumers turning to platforms like Daraz, Instagram Shops, and Amazon.</a:t>
            </a:r>
            <a:endParaRPr lang="en-US" sz="1250" dirty="0"/>
          </a:p>
          <a:p>
            <a:pPr marL="0" indent="0">
              <a:buNone/>
            </a:pPr>
            <a:r>
              <a:rPr lang="en-US" sz="1250" dirty="0">
                <a:solidFill>
                  <a:srgbClr val="4A5568"/>
                </a:solidFill>
                <a:latin typeface="Calibri" pitchFamily="34" charset="0"/>
                <a:ea typeface="Calibri" pitchFamily="34" charset="-122"/>
                <a:cs typeface="Calibri" pitchFamily="34" charset="-120"/>
              </a:rPr>
              <a:t> </a:t>
            </a:r>
            <a:endParaRPr lang="en-US" sz="1250" dirty="0"/>
          </a:p>
          <a:p>
            <a:pPr marL="0" indent="0">
              <a:buNone/>
            </a:pPr>
            <a:r>
              <a:rPr lang="en-US" sz="1250" dirty="0">
                <a:solidFill>
                  <a:srgbClr val="4A5568"/>
                </a:solidFill>
                <a:latin typeface="Calibri" pitchFamily="34" charset="0"/>
                <a:ea typeface="Calibri" pitchFamily="34" charset="-122"/>
                <a:cs typeface="Calibri" pitchFamily="34" charset="-120"/>
              </a:rPr>
              <a:t>Online reviews have become a primary source of product information, yet the extent to which Pakistani shoppers trust and act on these reviews is understudied.</a:t>
            </a:r>
            <a:endParaRPr lang="en-US" sz="1250" dirty="0"/>
          </a:p>
        </p:txBody>
      </p:sp>
      <p:sp>
        <p:nvSpPr>
          <p:cNvPr id="7" name="Text 5"/>
          <p:cNvSpPr/>
          <p:nvPr/>
        </p:nvSpPr>
        <p:spPr>
          <a:xfrm>
            <a:off x="4663440" y="777240"/>
            <a:ext cx="4114800" cy="347472"/>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Key Research Areas</a:t>
            </a:r>
            <a:endParaRPr lang="en-US" sz="1400" dirty="0"/>
          </a:p>
        </p:txBody>
      </p:sp>
      <p:sp>
        <p:nvSpPr>
          <p:cNvPr id="8" name="Shape 6"/>
          <p:cNvSpPr/>
          <p:nvPr/>
        </p:nvSpPr>
        <p:spPr>
          <a:xfrm>
            <a:off x="4663440" y="1188720"/>
            <a:ext cx="4114800" cy="621792"/>
          </a:xfrm>
          <a:prstGeom prst="rect">
            <a:avLst/>
          </a:prstGeom>
          <a:solidFill>
            <a:srgbClr val="EDF2F7"/>
          </a:solidFill>
          <a:ln w="6350">
            <a:solidFill>
              <a:srgbClr val="D1D9E6"/>
            </a:solidFill>
            <a:prstDash val="solid"/>
          </a:ln>
        </p:spPr>
        <p:txBody>
          <a:bodyPr/>
          <a:lstStyle/>
          <a:p>
            <a:endParaRPr lang="en-US"/>
          </a:p>
        </p:txBody>
      </p:sp>
      <p:sp>
        <p:nvSpPr>
          <p:cNvPr id="9" name="Text 7"/>
          <p:cNvSpPr/>
          <p:nvPr/>
        </p:nvSpPr>
        <p:spPr>
          <a:xfrm>
            <a:off x="4754880" y="1225296"/>
            <a:ext cx="3931920" cy="530352"/>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Trust in Reviews  </a:t>
            </a:r>
            <a:r>
              <a:rPr lang="en-US" sz="1050" dirty="0">
                <a:solidFill>
                  <a:srgbClr val="4A5568"/>
                </a:solidFill>
                <a:latin typeface="Calibri" pitchFamily="34" charset="0"/>
                <a:ea typeface="Calibri" pitchFamily="34" charset="-122"/>
                <a:cs typeface="Calibri" pitchFamily="34" charset="-120"/>
              </a:rPr>
              <a:t>How much do shoppers trust online reviews?</a:t>
            </a:r>
            <a:endParaRPr lang="en-US" sz="1050" dirty="0"/>
          </a:p>
        </p:txBody>
      </p:sp>
      <p:sp>
        <p:nvSpPr>
          <p:cNvPr id="10" name="Shape 8"/>
          <p:cNvSpPr/>
          <p:nvPr/>
        </p:nvSpPr>
        <p:spPr>
          <a:xfrm>
            <a:off x="4663440" y="1901952"/>
            <a:ext cx="4114800" cy="621792"/>
          </a:xfrm>
          <a:prstGeom prst="rect">
            <a:avLst/>
          </a:prstGeom>
          <a:solidFill>
            <a:srgbClr val="FFFFFF"/>
          </a:solidFill>
          <a:ln w="6350">
            <a:solidFill>
              <a:srgbClr val="D1D9E6"/>
            </a:solidFill>
            <a:prstDash val="solid"/>
          </a:ln>
        </p:spPr>
        <p:txBody>
          <a:bodyPr/>
          <a:lstStyle/>
          <a:p>
            <a:endParaRPr lang="en-US"/>
          </a:p>
        </p:txBody>
      </p:sp>
      <p:sp>
        <p:nvSpPr>
          <p:cNvPr id="11" name="Text 9"/>
          <p:cNvSpPr/>
          <p:nvPr/>
        </p:nvSpPr>
        <p:spPr>
          <a:xfrm>
            <a:off x="4754880" y="1938528"/>
            <a:ext cx="3931920" cy="530352"/>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Negative Review Impact  </a:t>
            </a:r>
            <a:r>
              <a:rPr lang="en-US" sz="1050" dirty="0">
                <a:solidFill>
                  <a:srgbClr val="4A5568"/>
                </a:solidFill>
                <a:latin typeface="Calibri" pitchFamily="34" charset="0"/>
                <a:ea typeface="Calibri" pitchFamily="34" charset="-122"/>
                <a:cs typeface="Calibri" pitchFamily="34" charset="-120"/>
              </a:rPr>
              <a:t>Do negative reviews deter purchases more than positive ones build confidence?</a:t>
            </a:r>
            <a:endParaRPr lang="en-US" sz="1050" dirty="0"/>
          </a:p>
        </p:txBody>
      </p:sp>
      <p:sp>
        <p:nvSpPr>
          <p:cNvPr id="12" name="Shape 10"/>
          <p:cNvSpPr/>
          <p:nvPr/>
        </p:nvSpPr>
        <p:spPr>
          <a:xfrm>
            <a:off x="4663440" y="2615184"/>
            <a:ext cx="4114800" cy="621792"/>
          </a:xfrm>
          <a:prstGeom prst="rect">
            <a:avLst/>
          </a:prstGeom>
          <a:solidFill>
            <a:srgbClr val="EDF2F7"/>
          </a:solidFill>
          <a:ln w="6350">
            <a:solidFill>
              <a:srgbClr val="D1D9E6"/>
            </a:solidFill>
            <a:prstDash val="solid"/>
          </a:ln>
        </p:spPr>
        <p:txBody>
          <a:bodyPr/>
          <a:lstStyle/>
          <a:p>
            <a:endParaRPr lang="en-US"/>
          </a:p>
        </p:txBody>
      </p:sp>
      <p:sp>
        <p:nvSpPr>
          <p:cNvPr id="13" name="Text 11"/>
          <p:cNvSpPr/>
          <p:nvPr/>
        </p:nvSpPr>
        <p:spPr>
          <a:xfrm>
            <a:off x="4754880" y="2651760"/>
            <a:ext cx="3931920" cy="530352"/>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Willingness to Pay More  </a:t>
            </a:r>
            <a:r>
              <a:rPr lang="en-US" sz="1050" dirty="0">
                <a:solidFill>
                  <a:srgbClr val="4A5568"/>
                </a:solidFill>
                <a:latin typeface="Calibri" pitchFamily="34" charset="0"/>
                <a:ea typeface="Calibri" pitchFamily="34" charset="-122"/>
                <a:cs typeface="Calibri" pitchFamily="34" charset="-120"/>
              </a:rPr>
              <a:t>Are shoppers willing to pay a premium for highly reviewed products?</a:t>
            </a:r>
            <a:endParaRPr lang="en-US" sz="1050" dirty="0"/>
          </a:p>
        </p:txBody>
      </p:sp>
      <p:sp>
        <p:nvSpPr>
          <p:cNvPr id="14" name="Shape 12"/>
          <p:cNvSpPr/>
          <p:nvPr/>
        </p:nvSpPr>
        <p:spPr>
          <a:xfrm>
            <a:off x="4663440" y="3328416"/>
            <a:ext cx="4114800" cy="621792"/>
          </a:xfrm>
          <a:prstGeom prst="rect">
            <a:avLst/>
          </a:prstGeom>
          <a:solidFill>
            <a:srgbClr val="FFFFFF"/>
          </a:solidFill>
          <a:ln w="6350">
            <a:solidFill>
              <a:srgbClr val="D1D9E6"/>
            </a:solidFill>
            <a:prstDash val="solid"/>
          </a:ln>
        </p:spPr>
        <p:txBody>
          <a:bodyPr/>
          <a:lstStyle/>
          <a:p>
            <a:endParaRPr lang="en-US"/>
          </a:p>
        </p:txBody>
      </p:sp>
      <p:sp>
        <p:nvSpPr>
          <p:cNvPr id="15" name="Text 13"/>
          <p:cNvSpPr/>
          <p:nvPr/>
        </p:nvSpPr>
        <p:spPr>
          <a:xfrm>
            <a:off x="4754880" y="3364992"/>
            <a:ext cx="3931920" cy="530352"/>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Demographic Differences  </a:t>
            </a:r>
            <a:r>
              <a:rPr lang="en-US" sz="1050" dirty="0">
                <a:solidFill>
                  <a:srgbClr val="4A5568"/>
                </a:solidFill>
                <a:latin typeface="Calibri" pitchFamily="34" charset="0"/>
                <a:ea typeface="Calibri" pitchFamily="34" charset="-122"/>
                <a:cs typeface="Calibri" pitchFamily="34" charset="-120"/>
              </a:rPr>
              <a:t>Do trust levels vary by age or return behavior?</a:t>
            </a:r>
            <a:endParaRPr lang="en-US" sz="1050" dirty="0"/>
          </a:p>
        </p:txBody>
      </p:sp>
      <p:sp>
        <p:nvSpPr>
          <p:cNvPr id="16" name="Shape 14"/>
          <p:cNvSpPr/>
          <p:nvPr/>
        </p:nvSpPr>
        <p:spPr>
          <a:xfrm>
            <a:off x="4663440" y="4041648"/>
            <a:ext cx="4114800" cy="621792"/>
          </a:xfrm>
          <a:prstGeom prst="rect">
            <a:avLst/>
          </a:prstGeom>
          <a:solidFill>
            <a:srgbClr val="EDF2F7"/>
          </a:solidFill>
          <a:ln w="6350">
            <a:solidFill>
              <a:srgbClr val="D1D9E6"/>
            </a:solidFill>
            <a:prstDash val="solid"/>
          </a:ln>
        </p:spPr>
        <p:txBody>
          <a:bodyPr/>
          <a:lstStyle/>
          <a:p>
            <a:endParaRPr lang="en-US"/>
          </a:p>
        </p:txBody>
      </p:sp>
      <p:sp>
        <p:nvSpPr>
          <p:cNvPr id="17" name="Text 15"/>
          <p:cNvSpPr/>
          <p:nvPr/>
        </p:nvSpPr>
        <p:spPr>
          <a:xfrm>
            <a:off x="4754880" y="4078224"/>
            <a:ext cx="3931920" cy="530352"/>
          </a:xfrm>
          <a:prstGeom prst="rect">
            <a:avLst/>
          </a:prstGeom>
          <a:noFill/>
          <a:ln/>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Review-Checking Behavior  </a:t>
            </a:r>
            <a:r>
              <a:rPr lang="en-US" sz="1050" dirty="0">
                <a:solidFill>
                  <a:srgbClr val="4A5568"/>
                </a:solidFill>
                <a:latin typeface="Calibri" pitchFamily="34" charset="0"/>
                <a:ea typeface="Calibri" pitchFamily="34" charset="-122"/>
                <a:cs typeface="Calibri" pitchFamily="34" charset="-120"/>
              </a:rPr>
              <a:t>Does frequency of checking reviews predict trust?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Methodology</a:t>
            </a:r>
            <a:endParaRPr lang="en-US" sz="2200" dirty="0"/>
          </a:p>
        </p:txBody>
      </p:sp>
      <p:sp>
        <p:nvSpPr>
          <p:cNvPr id="4" name="Shape 2"/>
          <p:cNvSpPr/>
          <p:nvPr/>
        </p:nvSpPr>
        <p:spPr>
          <a:xfrm>
            <a:off x="228600" y="777240"/>
            <a:ext cx="2084832" cy="4160520"/>
          </a:xfrm>
          <a:prstGeom prst="rect">
            <a:avLst/>
          </a:prstGeom>
          <a:solidFill>
            <a:srgbClr val="F4F6F9"/>
          </a:solidFill>
          <a:ln w="6350">
            <a:solidFill>
              <a:srgbClr val="D1D9E6"/>
            </a:solidFill>
            <a:prstDash val="solid"/>
          </a:ln>
        </p:spPr>
        <p:txBody>
          <a:bodyPr/>
          <a:lstStyle/>
          <a:p>
            <a:endParaRPr lang="en-US"/>
          </a:p>
        </p:txBody>
      </p:sp>
      <p:sp>
        <p:nvSpPr>
          <p:cNvPr id="5" name="Shape 3"/>
          <p:cNvSpPr/>
          <p:nvPr/>
        </p:nvSpPr>
        <p:spPr>
          <a:xfrm>
            <a:off x="228600" y="777240"/>
            <a:ext cx="2084832" cy="438912"/>
          </a:xfrm>
          <a:prstGeom prst="rect">
            <a:avLst/>
          </a:prstGeom>
          <a:solidFill>
            <a:srgbClr val="0D7377"/>
          </a:solidFill>
          <a:ln w="12700">
            <a:solidFill>
              <a:srgbClr val="0D7377"/>
            </a:solidFill>
            <a:prstDash val="solid"/>
          </a:ln>
        </p:spPr>
        <p:txBody>
          <a:bodyPr/>
          <a:lstStyle/>
          <a:p>
            <a:endParaRPr lang="en-US"/>
          </a:p>
        </p:txBody>
      </p:sp>
      <p:sp>
        <p:nvSpPr>
          <p:cNvPr id="6" name="Text 4"/>
          <p:cNvSpPr/>
          <p:nvPr/>
        </p:nvSpPr>
        <p:spPr>
          <a:xfrm>
            <a:off x="320040" y="777240"/>
            <a:ext cx="1901952" cy="43891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Data Collection</a:t>
            </a:r>
            <a:endParaRPr lang="en-US" sz="1150" dirty="0"/>
          </a:p>
        </p:txBody>
      </p:sp>
      <p:sp>
        <p:nvSpPr>
          <p:cNvPr id="7" name="Text 5"/>
          <p:cNvSpPr/>
          <p:nvPr/>
        </p:nvSpPr>
        <p:spPr>
          <a:xfrm>
            <a:off x="338328" y="1261872"/>
            <a:ext cx="1901952" cy="356616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Google Forms survey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Sample size: 81 respondents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Collection: May 18–30, 2026</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Convenience sampling</a:t>
            </a:r>
            <a:endParaRPr lang="en-US" sz="1100" dirty="0"/>
          </a:p>
          <a:p>
            <a:pPr marL="0" indent="0">
              <a:buNone/>
            </a:pPr>
            <a:endParaRPr lang="en-US" sz="1100" dirty="0"/>
          </a:p>
        </p:txBody>
      </p:sp>
      <p:sp>
        <p:nvSpPr>
          <p:cNvPr id="8" name="Shape 6"/>
          <p:cNvSpPr/>
          <p:nvPr/>
        </p:nvSpPr>
        <p:spPr>
          <a:xfrm>
            <a:off x="2441448" y="777240"/>
            <a:ext cx="2084832" cy="4160520"/>
          </a:xfrm>
          <a:prstGeom prst="rect">
            <a:avLst/>
          </a:prstGeom>
          <a:solidFill>
            <a:srgbClr val="EDF2F7"/>
          </a:solidFill>
          <a:ln w="6350">
            <a:solidFill>
              <a:srgbClr val="D1D9E6"/>
            </a:solidFill>
            <a:prstDash val="solid"/>
          </a:ln>
        </p:spPr>
        <p:txBody>
          <a:bodyPr/>
          <a:lstStyle/>
          <a:p>
            <a:endParaRPr lang="en-US"/>
          </a:p>
        </p:txBody>
      </p:sp>
      <p:sp>
        <p:nvSpPr>
          <p:cNvPr id="9" name="Shape 7"/>
          <p:cNvSpPr/>
          <p:nvPr/>
        </p:nvSpPr>
        <p:spPr>
          <a:xfrm>
            <a:off x="2441448" y="777240"/>
            <a:ext cx="2084832" cy="438912"/>
          </a:xfrm>
          <a:prstGeom prst="rect">
            <a:avLst/>
          </a:prstGeom>
          <a:solidFill>
            <a:srgbClr val="0D7377"/>
          </a:solidFill>
          <a:ln w="12700">
            <a:solidFill>
              <a:srgbClr val="0D7377"/>
            </a:solidFill>
            <a:prstDash val="solid"/>
          </a:ln>
        </p:spPr>
        <p:txBody>
          <a:bodyPr/>
          <a:lstStyle/>
          <a:p>
            <a:endParaRPr lang="en-US"/>
          </a:p>
        </p:txBody>
      </p:sp>
      <p:sp>
        <p:nvSpPr>
          <p:cNvPr id="10" name="Text 8"/>
          <p:cNvSpPr/>
          <p:nvPr/>
        </p:nvSpPr>
        <p:spPr>
          <a:xfrm>
            <a:off x="2532888" y="777240"/>
            <a:ext cx="1901952" cy="43891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Variables Measured</a:t>
            </a:r>
            <a:endParaRPr lang="en-US" sz="1150" dirty="0"/>
          </a:p>
        </p:txBody>
      </p:sp>
      <p:sp>
        <p:nvSpPr>
          <p:cNvPr id="11" name="Text 9"/>
          <p:cNvSpPr/>
          <p:nvPr/>
        </p:nvSpPr>
        <p:spPr>
          <a:xfrm>
            <a:off x="2551176" y="1261872"/>
            <a:ext cx="1901952" cy="356616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Trust in Online Reviews (TrustLevel)</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Negative Review Impact (NegImpact)</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Willingness to Pay More (PayMore)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Age, platform used, return behavior</a:t>
            </a:r>
            <a:endParaRPr lang="en-US" sz="1100" dirty="0"/>
          </a:p>
          <a:p>
            <a:pPr marL="0" indent="0">
              <a:buNone/>
            </a:pPr>
            <a:endParaRPr lang="en-US" sz="1100" dirty="0"/>
          </a:p>
        </p:txBody>
      </p:sp>
      <p:sp>
        <p:nvSpPr>
          <p:cNvPr id="12" name="Shape 10"/>
          <p:cNvSpPr/>
          <p:nvPr/>
        </p:nvSpPr>
        <p:spPr>
          <a:xfrm>
            <a:off x="4654296" y="777240"/>
            <a:ext cx="2084832" cy="4160520"/>
          </a:xfrm>
          <a:prstGeom prst="rect">
            <a:avLst/>
          </a:prstGeom>
          <a:solidFill>
            <a:srgbClr val="F4F6F9"/>
          </a:solidFill>
          <a:ln w="6350">
            <a:solidFill>
              <a:srgbClr val="D1D9E6"/>
            </a:solidFill>
            <a:prstDash val="solid"/>
          </a:ln>
        </p:spPr>
        <p:txBody>
          <a:bodyPr/>
          <a:lstStyle/>
          <a:p>
            <a:endParaRPr lang="en-US"/>
          </a:p>
        </p:txBody>
      </p:sp>
      <p:sp>
        <p:nvSpPr>
          <p:cNvPr id="13" name="Shape 11"/>
          <p:cNvSpPr/>
          <p:nvPr/>
        </p:nvSpPr>
        <p:spPr>
          <a:xfrm>
            <a:off x="4654296" y="777240"/>
            <a:ext cx="2084832" cy="438912"/>
          </a:xfrm>
          <a:prstGeom prst="rect">
            <a:avLst/>
          </a:prstGeom>
          <a:solidFill>
            <a:srgbClr val="0D7377"/>
          </a:solidFill>
          <a:ln w="12700">
            <a:solidFill>
              <a:srgbClr val="0D7377"/>
            </a:solidFill>
            <a:prstDash val="solid"/>
          </a:ln>
        </p:spPr>
        <p:txBody>
          <a:bodyPr/>
          <a:lstStyle/>
          <a:p>
            <a:endParaRPr lang="en-US"/>
          </a:p>
        </p:txBody>
      </p:sp>
      <p:sp>
        <p:nvSpPr>
          <p:cNvPr id="14" name="Text 12"/>
          <p:cNvSpPr/>
          <p:nvPr/>
        </p:nvSpPr>
        <p:spPr>
          <a:xfrm>
            <a:off x="4745736" y="777240"/>
            <a:ext cx="1901952" cy="43891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Recoding Process</a:t>
            </a:r>
            <a:endParaRPr lang="en-US" sz="1150" dirty="0"/>
          </a:p>
        </p:txBody>
      </p:sp>
      <p:sp>
        <p:nvSpPr>
          <p:cNvPr id="15" name="Text 13"/>
          <p:cNvSpPr/>
          <p:nvPr/>
        </p:nvSpPr>
        <p:spPr>
          <a:xfrm>
            <a:off x="4764024" y="1261872"/>
            <a:ext cx="1901952" cy="356616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Raw text responses recoded to numeric values in SPSS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Value labels assigned for interpretation</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Age grouped: 18–27 vs 28+ years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Review behavior: Sometimes or Less vs Usually or Always</a:t>
            </a:r>
            <a:endParaRPr lang="en-US" sz="1100" dirty="0"/>
          </a:p>
          <a:p>
            <a:pPr marL="0" indent="0">
              <a:buNone/>
            </a:pPr>
            <a:endParaRPr lang="en-US" sz="1100" dirty="0"/>
          </a:p>
        </p:txBody>
      </p:sp>
      <p:sp>
        <p:nvSpPr>
          <p:cNvPr id="16" name="Shape 14"/>
          <p:cNvSpPr/>
          <p:nvPr/>
        </p:nvSpPr>
        <p:spPr>
          <a:xfrm>
            <a:off x="6867144" y="777240"/>
            <a:ext cx="2084832" cy="4160520"/>
          </a:xfrm>
          <a:prstGeom prst="rect">
            <a:avLst/>
          </a:prstGeom>
          <a:solidFill>
            <a:srgbClr val="EDF2F7"/>
          </a:solidFill>
          <a:ln w="6350">
            <a:solidFill>
              <a:srgbClr val="D1D9E6"/>
            </a:solidFill>
            <a:prstDash val="solid"/>
          </a:ln>
        </p:spPr>
        <p:txBody>
          <a:bodyPr/>
          <a:lstStyle/>
          <a:p>
            <a:endParaRPr lang="en-US"/>
          </a:p>
        </p:txBody>
      </p:sp>
      <p:sp>
        <p:nvSpPr>
          <p:cNvPr id="17" name="Shape 15"/>
          <p:cNvSpPr/>
          <p:nvPr/>
        </p:nvSpPr>
        <p:spPr>
          <a:xfrm>
            <a:off x="6867144" y="777240"/>
            <a:ext cx="2084832" cy="438912"/>
          </a:xfrm>
          <a:prstGeom prst="rect">
            <a:avLst/>
          </a:prstGeom>
          <a:solidFill>
            <a:srgbClr val="0D7377"/>
          </a:solidFill>
          <a:ln w="12700">
            <a:solidFill>
              <a:srgbClr val="0D7377"/>
            </a:solidFill>
            <a:prstDash val="solid"/>
          </a:ln>
        </p:spPr>
        <p:txBody>
          <a:bodyPr/>
          <a:lstStyle/>
          <a:p>
            <a:endParaRPr lang="en-US"/>
          </a:p>
        </p:txBody>
      </p:sp>
      <p:sp>
        <p:nvSpPr>
          <p:cNvPr id="18" name="Text 16"/>
          <p:cNvSpPr/>
          <p:nvPr/>
        </p:nvSpPr>
        <p:spPr>
          <a:xfrm>
            <a:off x="6958584" y="777240"/>
            <a:ext cx="1901952" cy="43891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Statistical Tests</a:t>
            </a:r>
            <a:endParaRPr lang="en-US" sz="1150" dirty="0"/>
          </a:p>
        </p:txBody>
      </p:sp>
      <p:sp>
        <p:nvSpPr>
          <p:cNvPr id="19" name="Text 17"/>
          <p:cNvSpPr/>
          <p:nvPr/>
        </p:nvSpPr>
        <p:spPr>
          <a:xfrm>
            <a:off x="6976872" y="1261872"/>
            <a:ext cx="1901952" cy="3566160"/>
          </a:xfrm>
          <a:prstGeom prst="rect">
            <a:avLst/>
          </a:prstGeom>
          <a:noFill/>
          <a:ln/>
        </p:spPr>
        <p:txBody>
          <a:bodyPr wrap="square"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Shapiro-Wilk (normality)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Wilcoxon Signed-Rank</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Mann-Whitney U</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Kruskal-Wallis H</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Chi-Square + Cramér's V</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Spearman Correlation</a:t>
            </a:r>
            <a:endParaRPr lang="en-US" sz="1100" dirty="0"/>
          </a:p>
          <a:p>
            <a:pPr marL="0" indent="0">
              <a:buNone/>
            </a:pP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Demographics</a:t>
            </a:r>
            <a:endParaRPr lang="en-US" sz="2200" dirty="0"/>
          </a:p>
        </p:txBody>
      </p:sp>
      <p:sp>
        <p:nvSpPr>
          <p:cNvPr id="4" name="Text 2"/>
          <p:cNvSpPr/>
          <p:nvPr/>
        </p:nvSpPr>
        <p:spPr>
          <a:xfrm>
            <a:off x="274320" y="749808"/>
            <a:ext cx="4114800" cy="32004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Age Distribution of Respondents</a:t>
            </a:r>
            <a:endParaRPr lang="en-US" sz="1200" dirty="0"/>
          </a:p>
        </p:txBody>
      </p:sp>
      <p:graphicFrame>
        <p:nvGraphicFramePr>
          <p:cNvPr id="5" name="Chart 0"/>
          <p:cNvGraphicFramePr/>
          <p:nvPr/>
        </p:nvGraphicFramePr>
        <p:xfrm>
          <a:off x="228600" y="1078992"/>
          <a:ext cx="41605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663440" y="749808"/>
            <a:ext cx="4114800" cy="32004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Most Used Shopping Platform</a:t>
            </a:r>
            <a:endParaRPr lang="en-US" sz="1200" dirty="0"/>
          </a:p>
        </p:txBody>
      </p:sp>
      <p:graphicFrame>
        <p:nvGraphicFramePr>
          <p:cNvPr id="7" name="Chart 1"/>
          <p:cNvGraphicFramePr/>
          <p:nvPr/>
        </p:nvGraphicFramePr>
        <p:xfrm>
          <a:off x="4617720" y="1078992"/>
          <a:ext cx="4206240" cy="35204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Descriptive Statistics</a:t>
            </a:r>
            <a:endParaRPr lang="en-US" sz="2200" dirty="0"/>
          </a:p>
        </p:txBody>
      </p:sp>
      <p:sp>
        <p:nvSpPr>
          <p:cNvPr id="4" name="Shape 2"/>
          <p:cNvSpPr/>
          <p:nvPr/>
        </p:nvSpPr>
        <p:spPr>
          <a:xfrm>
            <a:off x="457200" y="804672"/>
            <a:ext cx="2560320" cy="1371600"/>
          </a:xfrm>
          <a:prstGeom prst="rect">
            <a:avLst/>
          </a:prstGeom>
          <a:solidFill>
            <a:srgbClr val="F4F6F9"/>
          </a:solidFill>
          <a:ln/>
          <a:effectLst>
            <a:outerShdw blurRad="63500" dist="25400" dir="8100000" algn="bl" rotWithShape="0">
              <a:srgbClr val="000000">
                <a:alpha val="10000"/>
              </a:srgbClr>
            </a:outerShdw>
          </a:effectLst>
        </p:spPr>
        <p:txBody>
          <a:bodyPr/>
          <a:lstStyle/>
          <a:p>
            <a:endParaRPr lang="en-US"/>
          </a:p>
        </p:txBody>
      </p:sp>
      <p:sp>
        <p:nvSpPr>
          <p:cNvPr id="5" name="Shape 3"/>
          <p:cNvSpPr/>
          <p:nvPr/>
        </p:nvSpPr>
        <p:spPr>
          <a:xfrm>
            <a:off x="457200" y="804672"/>
            <a:ext cx="64008" cy="1371600"/>
          </a:xfrm>
          <a:prstGeom prst="rect">
            <a:avLst/>
          </a:prstGeom>
          <a:solidFill>
            <a:srgbClr val="0D7377"/>
          </a:solidFill>
          <a:ln w="12700">
            <a:solidFill>
              <a:srgbClr val="0D7377"/>
            </a:solidFill>
            <a:prstDash val="solid"/>
          </a:ln>
        </p:spPr>
        <p:txBody>
          <a:bodyPr/>
          <a:lstStyle/>
          <a:p>
            <a:endParaRPr lang="en-US"/>
          </a:p>
        </p:txBody>
      </p:sp>
      <p:sp>
        <p:nvSpPr>
          <p:cNvPr id="6" name="Text 4"/>
          <p:cNvSpPr/>
          <p:nvPr/>
        </p:nvSpPr>
        <p:spPr>
          <a:xfrm>
            <a:off x="594360" y="804672"/>
            <a:ext cx="2423160" cy="754380"/>
          </a:xfrm>
          <a:prstGeom prst="rect">
            <a:avLst/>
          </a:prstGeom>
          <a:noFill/>
          <a:ln/>
        </p:spPr>
        <p:txBody>
          <a:bodyPr wrap="square" lIns="0" tIns="0" rIns="0" bIns="0" rtlCol="0" anchor="b"/>
          <a:lstStyle/>
          <a:p>
            <a:pPr marL="0" indent="0" algn="ctr">
              <a:buNone/>
            </a:pPr>
            <a:r>
              <a:rPr lang="en-US" sz="2600" b="1" dirty="0">
                <a:solidFill>
                  <a:srgbClr val="1B2A4A"/>
                </a:solidFill>
                <a:latin typeface="Calibri" pitchFamily="34" charset="0"/>
                <a:ea typeface="Calibri" pitchFamily="34" charset="-122"/>
                <a:cs typeface="Calibri" pitchFamily="34" charset="-120"/>
              </a:rPr>
              <a:t>3.42</a:t>
            </a:r>
            <a:endParaRPr lang="en-US" sz="2600" dirty="0"/>
          </a:p>
        </p:txBody>
      </p:sp>
      <p:sp>
        <p:nvSpPr>
          <p:cNvPr id="7" name="Text 5"/>
          <p:cNvSpPr/>
          <p:nvPr/>
        </p:nvSpPr>
        <p:spPr>
          <a:xfrm>
            <a:off x="594360" y="1559052"/>
            <a:ext cx="2423160" cy="6172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Trust in Reviews</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(Mean)</a:t>
            </a:r>
            <a:endParaRPr lang="en-US" sz="1000" dirty="0"/>
          </a:p>
        </p:txBody>
      </p:sp>
      <p:sp>
        <p:nvSpPr>
          <p:cNvPr id="8" name="Text 6"/>
          <p:cNvSpPr/>
          <p:nvPr/>
        </p:nvSpPr>
        <p:spPr>
          <a:xfrm>
            <a:off x="548640" y="2212848"/>
            <a:ext cx="2377440" cy="274320"/>
          </a:xfrm>
          <a:prstGeom prst="rect">
            <a:avLst/>
          </a:prstGeom>
          <a:noFill/>
          <a:ln/>
        </p:spPr>
        <p:txBody>
          <a:bodyPr wrap="square" rtlCol="0" anchor="ctr"/>
          <a:lstStyle/>
          <a:p>
            <a:pPr marL="0" indent="0" algn="ctr">
              <a:buNone/>
            </a:pPr>
            <a:r>
              <a:rPr lang="en-US" sz="1100" dirty="0">
                <a:solidFill>
                  <a:srgbClr val="718096"/>
                </a:solidFill>
                <a:latin typeface="Calibri" pitchFamily="34" charset="0"/>
                <a:ea typeface="Calibri" pitchFamily="34" charset="-122"/>
                <a:cs typeface="Calibri" pitchFamily="34" charset="-120"/>
              </a:rPr>
              <a:t>SD = 0.998</a:t>
            </a:r>
            <a:endParaRPr lang="en-US" sz="1100" dirty="0"/>
          </a:p>
        </p:txBody>
      </p:sp>
      <p:sp>
        <p:nvSpPr>
          <p:cNvPr id="9" name="Shape 7"/>
          <p:cNvSpPr/>
          <p:nvPr/>
        </p:nvSpPr>
        <p:spPr>
          <a:xfrm>
            <a:off x="3246120" y="804672"/>
            <a:ext cx="2560320" cy="1371600"/>
          </a:xfrm>
          <a:prstGeom prst="rect">
            <a:avLst/>
          </a:prstGeom>
          <a:solidFill>
            <a:srgbClr val="F4F6F9"/>
          </a:solidFill>
          <a:ln/>
          <a:effectLst>
            <a:outerShdw blurRad="63500" dist="25400" dir="8100000" algn="bl" rotWithShape="0">
              <a:srgbClr val="000000">
                <a:alpha val="10000"/>
              </a:srgbClr>
            </a:outerShdw>
          </a:effectLst>
        </p:spPr>
        <p:txBody>
          <a:bodyPr/>
          <a:lstStyle/>
          <a:p>
            <a:endParaRPr lang="en-US"/>
          </a:p>
        </p:txBody>
      </p:sp>
      <p:sp>
        <p:nvSpPr>
          <p:cNvPr id="10" name="Shape 8"/>
          <p:cNvSpPr/>
          <p:nvPr/>
        </p:nvSpPr>
        <p:spPr>
          <a:xfrm>
            <a:off x="3246120" y="804672"/>
            <a:ext cx="64008" cy="1371600"/>
          </a:xfrm>
          <a:prstGeom prst="rect">
            <a:avLst/>
          </a:prstGeom>
          <a:solidFill>
            <a:srgbClr val="0D7377"/>
          </a:solidFill>
          <a:ln w="12700">
            <a:solidFill>
              <a:srgbClr val="0D7377"/>
            </a:solidFill>
            <a:prstDash val="solid"/>
          </a:ln>
        </p:spPr>
        <p:txBody>
          <a:bodyPr/>
          <a:lstStyle/>
          <a:p>
            <a:endParaRPr lang="en-US"/>
          </a:p>
        </p:txBody>
      </p:sp>
      <p:sp>
        <p:nvSpPr>
          <p:cNvPr id="11" name="Text 9"/>
          <p:cNvSpPr/>
          <p:nvPr/>
        </p:nvSpPr>
        <p:spPr>
          <a:xfrm>
            <a:off x="3383280" y="804672"/>
            <a:ext cx="2423160" cy="754380"/>
          </a:xfrm>
          <a:prstGeom prst="rect">
            <a:avLst/>
          </a:prstGeom>
          <a:noFill/>
          <a:ln/>
        </p:spPr>
        <p:txBody>
          <a:bodyPr wrap="square" lIns="0" tIns="0" rIns="0" bIns="0" rtlCol="0" anchor="b"/>
          <a:lstStyle/>
          <a:p>
            <a:pPr marL="0" indent="0" algn="ctr">
              <a:buNone/>
            </a:pPr>
            <a:r>
              <a:rPr lang="en-US" sz="2600" b="1" dirty="0">
                <a:solidFill>
                  <a:srgbClr val="1B2A4A"/>
                </a:solidFill>
                <a:latin typeface="Calibri" pitchFamily="34" charset="0"/>
                <a:ea typeface="Calibri" pitchFamily="34" charset="-122"/>
                <a:cs typeface="Calibri" pitchFamily="34" charset="-120"/>
              </a:rPr>
              <a:t>3.90</a:t>
            </a:r>
            <a:endParaRPr lang="en-US" sz="2600" dirty="0"/>
          </a:p>
        </p:txBody>
      </p:sp>
      <p:sp>
        <p:nvSpPr>
          <p:cNvPr id="12" name="Text 10"/>
          <p:cNvSpPr/>
          <p:nvPr/>
        </p:nvSpPr>
        <p:spPr>
          <a:xfrm>
            <a:off x="3383280" y="1559052"/>
            <a:ext cx="2423160" cy="6172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Negative Review Impact</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(Mean)</a:t>
            </a:r>
            <a:endParaRPr lang="en-US" sz="1000" dirty="0"/>
          </a:p>
        </p:txBody>
      </p:sp>
      <p:sp>
        <p:nvSpPr>
          <p:cNvPr id="13" name="Text 11"/>
          <p:cNvSpPr/>
          <p:nvPr/>
        </p:nvSpPr>
        <p:spPr>
          <a:xfrm>
            <a:off x="3337560" y="2212848"/>
            <a:ext cx="2377440" cy="274320"/>
          </a:xfrm>
          <a:prstGeom prst="rect">
            <a:avLst/>
          </a:prstGeom>
          <a:noFill/>
          <a:ln/>
        </p:spPr>
        <p:txBody>
          <a:bodyPr wrap="square" rtlCol="0" anchor="ctr"/>
          <a:lstStyle/>
          <a:p>
            <a:pPr marL="0" indent="0" algn="ctr">
              <a:buNone/>
            </a:pPr>
            <a:r>
              <a:rPr lang="en-US" sz="1100" dirty="0">
                <a:solidFill>
                  <a:srgbClr val="718096"/>
                </a:solidFill>
                <a:latin typeface="Calibri" pitchFamily="34" charset="0"/>
                <a:ea typeface="Calibri" pitchFamily="34" charset="-122"/>
                <a:cs typeface="Calibri" pitchFamily="34" charset="-120"/>
              </a:rPr>
              <a:t>SD = 1.147</a:t>
            </a:r>
            <a:endParaRPr lang="en-US" sz="1100" dirty="0"/>
          </a:p>
        </p:txBody>
      </p:sp>
      <p:sp>
        <p:nvSpPr>
          <p:cNvPr id="14" name="Shape 12"/>
          <p:cNvSpPr/>
          <p:nvPr/>
        </p:nvSpPr>
        <p:spPr>
          <a:xfrm>
            <a:off x="6035040" y="804672"/>
            <a:ext cx="2560320" cy="1371600"/>
          </a:xfrm>
          <a:prstGeom prst="rect">
            <a:avLst/>
          </a:prstGeom>
          <a:solidFill>
            <a:srgbClr val="F4F6F9"/>
          </a:solidFill>
          <a:ln/>
          <a:effectLst>
            <a:outerShdw blurRad="63500" dist="25400" dir="8100000" algn="bl" rotWithShape="0">
              <a:srgbClr val="000000">
                <a:alpha val="10000"/>
              </a:srgbClr>
            </a:outerShdw>
          </a:effectLst>
        </p:spPr>
        <p:txBody>
          <a:bodyPr/>
          <a:lstStyle/>
          <a:p>
            <a:endParaRPr lang="en-US"/>
          </a:p>
        </p:txBody>
      </p:sp>
      <p:sp>
        <p:nvSpPr>
          <p:cNvPr id="15" name="Shape 13"/>
          <p:cNvSpPr/>
          <p:nvPr/>
        </p:nvSpPr>
        <p:spPr>
          <a:xfrm>
            <a:off x="6035040" y="804672"/>
            <a:ext cx="64008" cy="1371600"/>
          </a:xfrm>
          <a:prstGeom prst="rect">
            <a:avLst/>
          </a:prstGeom>
          <a:solidFill>
            <a:srgbClr val="0D7377"/>
          </a:solidFill>
          <a:ln w="12700">
            <a:solidFill>
              <a:srgbClr val="0D7377"/>
            </a:solidFill>
            <a:prstDash val="solid"/>
          </a:ln>
        </p:spPr>
        <p:txBody>
          <a:bodyPr/>
          <a:lstStyle/>
          <a:p>
            <a:endParaRPr lang="en-US"/>
          </a:p>
        </p:txBody>
      </p:sp>
      <p:sp>
        <p:nvSpPr>
          <p:cNvPr id="16" name="Text 14"/>
          <p:cNvSpPr/>
          <p:nvPr/>
        </p:nvSpPr>
        <p:spPr>
          <a:xfrm>
            <a:off x="6172200" y="804672"/>
            <a:ext cx="2423160" cy="754380"/>
          </a:xfrm>
          <a:prstGeom prst="rect">
            <a:avLst/>
          </a:prstGeom>
          <a:noFill/>
          <a:ln/>
        </p:spPr>
        <p:txBody>
          <a:bodyPr wrap="square" lIns="0" tIns="0" rIns="0" bIns="0" rtlCol="0" anchor="b"/>
          <a:lstStyle/>
          <a:p>
            <a:pPr marL="0" indent="0" algn="ctr">
              <a:buNone/>
            </a:pPr>
            <a:r>
              <a:rPr lang="en-US" sz="2600" b="1" dirty="0">
                <a:solidFill>
                  <a:srgbClr val="1B2A4A"/>
                </a:solidFill>
                <a:latin typeface="Calibri" pitchFamily="34" charset="0"/>
                <a:ea typeface="Calibri" pitchFamily="34" charset="-122"/>
                <a:cs typeface="Calibri" pitchFamily="34" charset="-120"/>
              </a:rPr>
              <a:t>3.12</a:t>
            </a:r>
            <a:endParaRPr lang="en-US" sz="2600" dirty="0"/>
          </a:p>
        </p:txBody>
      </p:sp>
      <p:sp>
        <p:nvSpPr>
          <p:cNvPr id="17" name="Text 15"/>
          <p:cNvSpPr/>
          <p:nvPr/>
        </p:nvSpPr>
        <p:spPr>
          <a:xfrm>
            <a:off x="6172200" y="1559052"/>
            <a:ext cx="2423160" cy="61722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Willingness to Pay More</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(Mean)</a:t>
            </a:r>
            <a:endParaRPr lang="en-US" sz="1000" dirty="0"/>
          </a:p>
        </p:txBody>
      </p:sp>
      <p:sp>
        <p:nvSpPr>
          <p:cNvPr id="18" name="Text 16"/>
          <p:cNvSpPr/>
          <p:nvPr/>
        </p:nvSpPr>
        <p:spPr>
          <a:xfrm>
            <a:off x="6126480" y="2212848"/>
            <a:ext cx="2377440" cy="274320"/>
          </a:xfrm>
          <a:prstGeom prst="rect">
            <a:avLst/>
          </a:prstGeom>
          <a:noFill/>
          <a:ln/>
        </p:spPr>
        <p:txBody>
          <a:bodyPr wrap="square" rtlCol="0" anchor="ctr"/>
          <a:lstStyle/>
          <a:p>
            <a:pPr marL="0" indent="0" algn="ctr">
              <a:buNone/>
            </a:pPr>
            <a:r>
              <a:rPr lang="en-US" sz="1100" dirty="0">
                <a:solidFill>
                  <a:srgbClr val="718096"/>
                </a:solidFill>
                <a:latin typeface="Calibri" pitchFamily="34" charset="0"/>
                <a:ea typeface="Calibri" pitchFamily="34" charset="-122"/>
                <a:cs typeface="Calibri" pitchFamily="34" charset="-120"/>
              </a:rPr>
              <a:t>SD = 1.144</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637656041"/>
              </p:ext>
            </p:extLst>
          </p:nvPr>
        </p:nvGraphicFramePr>
        <p:xfrm>
          <a:off x="457200" y="2651760"/>
          <a:ext cx="8439912" cy="2194560"/>
        </p:xfrm>
        <a:graphic>
          <a:graphicData uri="http://schemas.openxmlformats.org/drawingml/2006/table">
            <a:tbl>
              <a:tblPr/>
              <a:tblGrid>
                <a:gridCol w="2531974">
                  <a:extLst>
                    <a:ext uri="{9D8B030D-6E8A-4147-A177-3AD203B41FA5}">
                      <a16:colId xmlns:a16="http://schemas.microsoft.com/office/drawing/2014/main" val="20000"/>
                    </a:ext>
                  </a:extLst>
                </a:gridCol>
                <a:gridCol w="675193">
                  <a:extLst>
                    <a:ext uri="{9D8B030D-6E8A-4147-A177-3AD203B41FA5}">
                      <a16:colId xmlns:a16="http://schemas.microsoft.com/office/drawing/2014/main" val="20001"/>
                    </a:ext>
                  </a:extLst>
                </a:gridCol>
                <a:gridCol w="1012789">
                  <a:extLst>
                    <a:ext uri="{9D8B030D-6E8A-4147-A177-3AD203B41FA5}">
                      <a16:colId xmlns:a16="http://schemas.microsoft.com/office/drawing/2014/main" val="20002"/>
                    </a:ext>
                  </a:extLst>
                </a:gridCol>
                <a:gridCol w="1012789">
                  <a:extLst>
                    <a:ext uri="{9D8B030D-6E8A-4147-A177-3AD203B41FA5}">
                      <a16:colId xmlns:a16="http://schemas.microsoft.com/office/drawing/2014/main" val="20003"/>
                    </a:ext>
                  </a:extLst>
                </a:gridCol>
                <a:gridCol w="1181588">
                  <a:extLst>
                    <a:ext uri="{9D8B030D-6E8A-4147-A177-3AD203B41FA5}">
                      <a16:colId xmlns:a16="http://schemas.microsoft.com/office/drawing/2014/main" val="20004"/>
                    </a:ext>
                  </a:extLst>
                </a:gridCol>
                <a:gridCol w="2025579">
                  <a:extLst>
                    <a:ext uri="{9D8B030D-6E8A-4147-A177-3AD203B41FA5}">
                      <a16:colId xmlns:a16="http://schemas.microsoft.com/office/drawing/2014/main" val="20005"/>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Minimum</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Maximum</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Std. Deviation</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4864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Trust in Reviews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3.42</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Negative Review Impact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3.90</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1.147</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54864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Willingness to Pay More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1.144</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Text 17"/>
          <p:cNvSpPr/>
          <p:nvPr/>
        </p:nvSpPr>
        <p:spPr>
          <a:xfrm>
            <a:off x="457200" y="4846320"/>
            <a:ext cx="8229600" cy="256032"/>
          </a:xfrm>
          <a:prstGeom prst="rect">
            <a:avLst/>
          </a:prstGeom>
          <a:noFill/>
          <a:ln/>
        </p:spPr>
        <p:txBody>
          <a:bodyPr wrap="square"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All three variables measured on a 5-point Likert scale (1 = Strongly Disagree, 5 = Strongly Agree).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Normality Assessment — Shapiro-Wilk Test</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576132435"/>
              </p:ext>
            </p:extLst>
          </p:nvPr>
        </p:nvGraphicFramePr>
        <p:xfrm>
          <a:off x="251459" y="731520"/>
          <a:ext cx="8595360" cy="1696212"/>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24053">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Statistic (W)</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df</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p-value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24053">
                <a:tc>
                  <a:txBody>
                    <a:bodyPr/>
                    <a:lstStyle/>
                    <a:p>
                      <a:pPr marL="0" indent="0">
                        <a:buNone/>
                      </a:pPr>
                      <a:r>
                        <a:rPr lang="en-US" sz="1200" dirty="0">
                          <a:solidFill>
                            <a:srgbClr val="4A5568"/>
                          </a:solidFill>
                          <a:latin typeface="Calibri" pitchFamily="34" charset="0"/>
                          <a:ea typeface="Calibri" pitchFamily="34" charset="-122"/>
                          <a:cs typeface="Calibri" pitchFamily="34" charset="-120"/>
                        </a:rPr>
                        <a:t>Trust in Reviews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&lt; .001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No ✗</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4053">
                <a:tc>
                  <a:txBody>
                    <a:bodyPr/>
                    <a:lstStyle/>
                    <a:p>
                      <a:pPr marL="0" indent="0">
                        <a:buNone/>
                      </a:pPr>
                      <a:r>
                        <a:rPr lang="en-US" sz="1200" dirty="0">
                          <a:solidFill>
                            <a:srgbClr val="4A5568"/>
                          </a:solidFill>
                          <a:latin typeface="Calibri" pitchFamily="34" charset="0"/>
                          <a:ea typeface="Calibri" pitchFamily="34" charset="-122"/>
                          <a:cs typeface="Calibri" pitchFamily="34" charset="-120"/>
                        </a:rPr>
                        <a:t>Negative Review Impact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&lt; .001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No ✗</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424053">
                <a:tc>
                  <a:txBody>
                    <a:bodyPr/>
                    <a:lstStyle/>
                    <a:p>
                      <a:pPr marL="0" indent="0">
                        <a:buNone/>
                      </a:pPr>
                      <a:r>
                        <a:rPr lang="en-US" sz="1200" dirty="0">
                          <a:solidFill>
                            <a:srgbClr val="4A5568"/>
                          </a:solidFill>
                          <a:latin typeface="Calibri" pitchFamily="34" charset="0"/>
                          <a:ea typeface="Calibri" pitchFamily="34" charset="-122"/>
                          <a:cs typeface="Calibri" pitchFamily="34" charset="-120"/>
                        </a:rPr>
                        <a:t>Willingness to Pay More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&lt; .001</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392B"/>
                          </a:solidFill>
                          <a:latin typeface="Calibri" pitchFamily="34" charset="0"/>
                          <a:ea typeface="Calibri" pitchFamily="34" charset="-122"/>
                          <a:cs typeface="Calibri" pitchFamily="34" charset="-120"/>
                        </a:rPr>
                        <a:t>No ✗</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274320" y="2788920"/>
            <a:ext cx="8595360" cy="2103120"/>
          </a:xfrm>
          <a:prstGeom prst="rect">
            <a:avLst/>
          </a:prstGeom>
          <a:noFill/>
          <a:ln/>
        </p:spPr>
        <p:txBody>
          <a:bodyPr wrap="square" rtlCol="0" anchor="ctr"/>
          <a:lstStyle/>
          <a:p>
            <a:pPr marL="0" indent="0" algn="ctr">
              <a:buNone/>
            </a:pPr>
            <a:endParaRPr lang="en-US" sz="1300" dirty="0"/>
          </a:p>
        </p:txBody>
      </p:sp>
      <p:sp>
        <p:nvSpPr>
          <p:cNvPr id="7" name="Shape 4"/>
          <p:cNvSpPr/>
          <p:nvPr/>
        </p:nvSpPr>
        <p:spPr>
          <a:xfrm>
            <a:off x="274320" y="4828032"/>
            <a:ext cx="8595360" cy="246888"/>
          </a:xfrm>
          <a:prstGeom prst="rect">
            <a:avLst/>
          </a:prstGeom>
          <a:solidFill>
            <a:srgbClr val="FFF3CD"/>
          </a:solidFill>
          <a:ln w="6350">
            <a:solidFill>
              <a:srgbClr val="F0C040"/>
            </a:solidFill>
            <a:prstDash val="solid"/>
          </a:ln>
        </p:spPr>
        <p:txBody>
          <a:bodyPr/>
          <a:lstStyle/>
          <a:p>
            <a:endParaRPr lang="en-US"/>
          </a:p>
        </p:txBody>
      </p:sp>
      <p:sp>
        <p:nvSpPr>
          <p:cNvPr id="4" name="Text 5"/>
          <p:cNvSpPr/>
          <p:nvPr/>
        </p:nvSpPr>
        <p:spPr>
          <a:xfrm>
            <a:off x="365760" y="4828032"/>
            <a:ext cx="8412480" cy="246888"/>
          </a:xfrm>
          <a:prstGeom prst="rect">
            <a:avLst/>
          </a:prstGeom>
          <a:noFill/>
          <a:ln/>
        </p:spPr>
        <p:txBody>
          <a:bodyPr wrap="square" rtlCol="0" anchor="ctr"/>
          <a:lstStyle/>
          <a:p>
            <a:pPr marL="0" indent="0">
              <a:buNone/>
            </a:pPr>
            <a:r>
              <a:rPr lang="en-US" sz="1050" b="1" dirty="0">
                <a:solidFill>
                  <a:srgbClr val="7D5A00"/>
                </a:solidFill>
                <a:latin typeface="Calibri" pitchFamily="34" charset="0"/>
                <a:ea typeface="Calibri" pitchFamily="34" charset="-122"/>
                <a:cs typeface="Calibri" pitchFamily="34" charset="-120"/>
              </a:rPr>
              <a:t>⚠  All three variables are non-normally distributed (p &lt; .001).  →  Non-parametric tests selected for all inferential analyses.</a:t>
            </a:r>
            <a:endParaRPr lang="en-US" sz="1050" dirty="0"/>
          </a:p>
        </p:txBody>
      </p:sp>
      <p:pic>
        <p:nvPicPr>
          <p:cNvPr id="10" name="Picture 9">
            <a:extLst>
              <a:ext uri="{FF2B5EF4-FFF2-40B4-BE49-F238E27FC236}">
                <a16:creationId xmlns:a16="http://schemas.microsoft.com/office/drawing/2014/main" id="{A6C568CB-26A9-9AE4-4D30-A7D14DAC9D37}"/>
              </a:ext>
            </a:extLst>
          </p:cNvPr>
          <p:cNvPicPr>
            <a:picLocks noChangeAspect="1"/>
          </p:cNvPicPr>
          <p:nvPr/>
        </p:nvPicPr>
        <p:blipFill>
          <a:blip r:embed="rId3"/>
          <a:stretch>
            <a:fillRect/>
          </a:stretch>
        </p:blipFill>
        <p:spPr>
          <a:xfrm>
            <a:off x="320039" y="2500884"/>
            <a:ext cx="8458201" cy="23469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0467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Transformation</a:t>
            </a:r>
            <a:endParaRPr lang="en-US" sz="2200" dirty="0"/>
          </a:p>
        </p:txBody>
      </p:sp>
      <p:sp>
        <p:nvSpPr>
          <p:cNvPr id="7" name="Shape 4"/>
          <p:cNvSpPr/>
          <p:nvPr/>
        </p:nvSpPr>
        <p:spPr>
          <a:xfrm>
            <a:off x="5802358" y="2368466"/>
            <a:ext cx="3014254" cy="262128"/>
          </a:xfrm>
          <a:prstGeom prst="rect">
            <a:avLst/>
          </a:prstGeom>
          <a:solidFill>
            <a:srgbClr val="0D7377"/>
          </a:solidFill>
          <a:ln w="12700">
            <a:solidFill>
              <a:srgbClr val="0D7377"/>
            </a:solidFill>
            <a:prstDash val="solid"/>
          </a:ln>
        </p:spPr>
        <p:txBody>
          <a:bodyPr/>
          <a:lstStyle/>
          <a:p>
            <a:endParaRPr lang="en-US"/>
          </a:p>
        </p:txBody>
      </p:sp>
      <p:sp>
        <p:nvSpPr>
          <p:cNvPr id="8" name="Text 5"/>
          <p:cNvSpPr/>
          <p:nvPr/>
        </p:nvSpPr>
        <p:spPr>
          <a:xfrm>
            <a:off x="5843506" y="2348086"/>
            <a:ext cx="2986822"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3 — Further Recoding for Chi-Square Test</a:t>
            </a:r>
            <a:endParaRPr lang="en-US" sz="1000" dirty="0"/>
          </a:p>
        </p:txBody>
      </p:sp>
      <p:graphicFrame>
        <p:nvGraphicFramePr>
          <p:cNvPr id="9" name="Table 1"/>
          <p:cNvGraphicFramePr>
            <a:graphicFrameLocks noGrp="1"/>
          </p:cNvGraphicFramePr>
          <p:nvPr>
            <p:extLst>
              <p:ext uri="{D42A27DB-BD31-4B8C-83A1-F6EECF244321}">
                <p14:modId xmlns:p14="http://schemas.microsoft.com/office/powerpoint/2010/main" val="2487751051"/>
              </p:ext>
            </p:extLst>
          </p:nvPr>
        </p:nvGraphicFramePr>
        <p:xfrm>
          <a:off x="5795010" y="2624510"/>
          <a:ext cx="3020622" cy="1532757"/>
        </p:xfrm>
        <a:graphic>
          <a:graphicData uri="http://schemas.openxmlformats.org/drawingml/2006/table">
            <a:tbl>
              <a:tblPr/>
              <a:tblGrid>
                <a:gridCol w="1510311">
                  <a:extLst>
                    <a:ext uri="{9D8B030D-6E8A-4147-A177-3AD203B41FA5}">
                      <a16:colId xmlns:a16="http://schemas.microsoft.com/office/drawing/2014/main" val="20000"/>
                    </a:ext>
                  </a:extLst>
                </a:gridCol>
                <a:gridCol w="1510311">
                  <a:extLst>
                    <a:ext uri="{9D8B030D-6E8A-4147-A177-3AD203B41FA5}">
                      <a16:colId xmlns:a16="http://schemas.microsoft.com/office/drawing/2014/main" val="20001"/>
                    </a:ext>
                  </a:extLst>
                </a:gridCol>
              </a:tblGrid>
              <a:tr h="267079">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Original</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Recoded To</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67079">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Age 1 (18-22), 2 (23-27)</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Group 1: 18–27 years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7079">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Age 3 (28-35), 4 (35+)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Group 2: 28+ years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44618">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Review: 1-3 (Never–Sometimes)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Group 1: Sometimes or Less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4618">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Review: 4-5 (Usually–Always)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Group 2: Usually or Always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10" name="Shape 6"/>
          <p:cNvSpPr/>
          <p:nvPr/>
        </p:nvSpPr>
        <p:spPr>
          <a:xfrm>
            <a:off x="5810686" y="868089"/>
            <a:ext cx="3028950" cy="237357"/>
          </a:xfrm>
          <a:prstGeom prst="rect">
            <a:avLst/>
          </a:prstGeom>
          <a:solidFill>
            <a:srgbClr val="1B2A4A"/>
          </a:solidFill>
          <a:ln w="12700">
            <a:solidFill>
              <a:srgbClr val="1B2A4A"/>
            </a:solidFill>
            <a:prstDash val="solid"/>
          </a:ln>
        </p:spPr>
        <p:txBody>
          <a:bodyPr/>
          <a:lstStyle/>
          <a:p>
            <a:endParaRPr lang="en-US"/>
          </a:p>
        </p:txBody>
      </p:sp>
      <p:sp>
        <p:nvSpPr>
          <p:cNvPr id="11" name="Text 7"/>
          <p:cNvSpPr/>
          <p:nvPr/>
        </p:nvSpPr>
        <p:spPr>
          <a:xfrm>
            <a:off x="5844486" y="872056"/>
            <a:ext cx="2779776"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Step 2 — Value Labels (Example: Age)</a:t>
            </a:r>
            <a:endParaRPr lang="en-US" sz="950" dirty="0"/>
          </a:p>
        </p:txBody>
      </p:sp>
      <p:graphicFrame>
        <p:nvGraphicFramePr>
          <p:cNvPr id="12" name="Table 2"/>
          <p:cNvGraphicFramePr>
            <a:graphicFrameLocks noGrp="1"/>
          </p:cNvGraphicFramePr>
          <p:nvPr>
            <p:extLst>
              <p:ext uri="{D42A27DB-BD31-4B8C-83A1-F6EECF244321}">
                <p14:modId xmlns:p14="http://schemas.microsoft.com/office/powerpoint/2010/main" val="2135232604"/>
              </p:ext>
            </p:extLst>
          </p:nvPr>
        </p:nvGraphicFramePr>
        <p:xfrm>
          <a:off x="5802358" y="1101357"/>
          <a:ext cx="3037278" cy="1143000"/>
        </p:xfrm>
        <a:graphic>
          <a:graphicData uri="http://schemas.openxmlformats.org/drawingml/2006/table">
            <a:tbl>
              <a:tblPr/>
              <a:tblGrid>
                <a:gridCol w="587860">
                  <a:extLst>
                    <a:ext uri="{9D8B030D-6E8A-4147-A177-3AD203B41FA5}">
                      <a16:colId xmlns:a16="http://schemas.microsoft.com/office/drawing/2014/main" val="20000"/>
                    </a:ext>
                  </a:extLst>
                </a:gridCol>
                <a:gridCol w="2449418">
                  <a:extLst>
                    <a:ext uri="{9D8B030D-6E8A-4147-A177-3AD203B41FA5}">
                      <a16:colId xmlns:a16="http://schemas.microsoft.com/office/drawing/2014/main" val="20001"/>
                    </a:ext>
                  </a:extLst>
                </a:gridCol>
              </a:tblGrid>
              <a:tr h="20627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0D7377"/>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Label Shown in SPSS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206272">
                <a:tc>
                  <a:txBody>
                    <a:bodyPr/>
                    <a:lstStyle/>
                    <a:p>
                      <a:pPr marL="0" indent="0" algn="ctr">
                        <a:buNone/>
                      </a:pPr>
                      <a:r>
                        <a:rPr lang="en-US" sz="900" dirty="0">
                          <a:solidFill>
                            <a:srgbClr val="4A5568"/>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18–22</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6272">
                <a:tc>
                  <a:txBody>
                    <a:bodyPr/>
                    <a:lstStyle/>
                    <a:p>
                      <a:pPr marL="0" indent="0" algn="ctr">
                        <a:buNone/>
                      </a:pPr>
                      <a:r>
                        <a:rPr lang="en-US" sz="900" dirty="0">
                          <a:solidFill>
                            <a:srgbClr val="4A5568"/>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23–27</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206272">
                <a:tc>
                  <a:txBody>
                    <a:bodyPr/>
                    <a:lstStyle/>
                    <a:p>
                      <a:pPr marL="0" indent="0" algn="ctr">
                        <a:buNone/>
                      </a:pPr>
                      <a:r>
                        <a:rPr lang="en-US" sz="900" dirty="0">
                          <a:solidFill>
                            <a:srgbClr val="4A5568"/>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28–35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6272">
                <a:tc>
                  <a:txBody>
                    <a:bodyPr/>
                    <a:lstStyle/>
                    <a:p>
                      <a:pPr marL="0" indent="0" algn="ctr">
                        <a:buNone/>
                      </a:pPr>
                      <a:r>
                        <a:rPr lang="en-US" sz="900" dirty="0">
                          <a:solidFill>
                            <a:srgbClr val="4A5568"/>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13" name="Shape 8"/>
          <p:cNvSpPr/>
          <p:nvPr/>
        </p:nvSpPr>
        <p:spPr>
          <a:xfrm>
            <a:off x="236764" y="736103"/>
            <a:ext cx="5478236" cy="267130"/>
          </a:xfrm>
          <a:prstGeom prst="rect">
            <a:avLst/>
          </a:prstGeom>
          <a:solidFill>
            <a:srgbClr val="0D7377"/>
          </a:solidFill>
          <a:ln w="12700">
            <a:solidFill>
              <a:srgbClr val="0D7377"/>
            </a:solidFill>
            <a:prstDash val="solid"/>
          </a:ln>
        </p:spPr>
        <p:txBody>
          <a:bodyPr/>
          <a:lstStyle/>
          <a:p>
            <a:endParaRPr lang="en-US" dirty="0"/>
          </a:p>
        </p:txBody>
      </p:sp>
      <p:sp>
        <p:nvSpPr>
          <p:cNvPr id="14" name="Text 9"/>
          <p:cNvSpPr/>
          <p:nvPr/>
        </p:nvSpPr>
        <p:spPr>
          <a:xfrm>
            <a:off x="250480" y="728787"/>
            <a:ext cx="545080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Step 1 — Recoded Text Variables to Numbers</a:t>
            </a:r>
            <a:endParaRPr lang="en-US" sz="1000" dirty="0"/>
          </a:p>
        </p:txBody>
      </p:sp>
      <p:graphicFrame>
        <p:nvGraphicFramePr>
          <p:cNvPr id="15" name="Table 3"/>
          <p:cNvGraphicFramePr>
            <a:graphicFrameLocks noGrp="1"/>
          </p:cNvGraphicFramePr>
          <p:nvPr>
            <p:extLst>
              <p:ext uri="{D42A27DB-BD31-4B8C-83A1-F6EECF244321}">
                <p14:modId xmlns:p14="http://schemas.microsoft.com/office/powerpoint/2010/main" val="2840047183"/>
              </p:ext>
            </p:extLst>
          </p:nvPr>
        </p:nvGraphicFramePr>
        <p:xfrm>
          <a:off x="236764" y="1019040"/>
          <a:ext cx="5478236" cy="3074724"/>
        </p:xfrm>
        <a:graphic>
          <a:graphicData uri="http://schemas.openxmlformats.org/drawingml/2006/table">
            <a:tbl>
              <a:tblPr/>
              <a:tblGrid>
                <a:gridCol w="1413738">
                  <a:extLst>
                    <a:ext uri="{9D8B030D-6E8A-4147-A177-3AD203B41FA5}">
                      <a16:colId xmlns:a16="http://schemas.microsoft.com/office/drawing/2014/main" val="20000"/>
                    </a:ext>
                  </a:extLst>
                </a:gridCol>
                <a:gridCol w="2739118">
                  <a:extLst>
                    <a:ext uri="{9D8B030D-6E8A-4147-A177-3AD203B41FA5}">
                      <a16:colId xmlns:a16="http://schemas.microsoft.com/office/drawing/2014/main" val="20001"/>
                    </a:ext>
                  </a:extLst>
                </a:gridCol>
                <a:gridCol w="1325380">
                  <a:extLst>
                    <a:ext uri="{9D8B030D-6E8A-4147-A177-3AD203B41FA5}">
                      <a16:colId xmlns:a16="http://schemas.microsoft.com/office/drawing/2014/main" val="20002"/>
                    </a:ext>
                  </a:extLst>
                </a:gridCol>
              </a:tblGrid>
              <a:tr h="238454">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Variable</a:t>
                      </a:r>
                      <a:endParaRPr lang="en-US" sz="9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Original Text Values</a:t>
                      </a:r>
                      <a:endParaRPr lang="en-US" sz="9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Numeric Codes</a:t>
                      </a:r>
                      <a:endParaRPr lang="en-US" sz="9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Age</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18-22, 23-27, 28-35, 35+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Education</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Matric, Intermediate, Undergraduate, Postgraduate</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Shopping Frequency</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Rarely, 1-2x, 3-5x, 5+ times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Review Checking</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Never, Rarely, Sometimes, Usually, Always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1, 2, 3, 4, 5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Review Count Importance</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Not important → Extremely important</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1, 2, 3, 4, 5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Verified Badge Trust</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Trust less → Trust completely</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1, 2, 3, 4, 5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Photos/Videos Trust</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Yes, No, Doesn't matter</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1, 0, 2</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Cross-platform Check</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Never, Rarely, Sometimes, Usually, Always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1, 2, 3, 4, 5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Ignore Reviews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Never, Rarely, Sometimes, Usually, Always</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1, 2, 3, 4, 5</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3627">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Returned Product</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Yes, No, Never returned</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900" dirty="0">
                          <a:solidFill>
                            <a:srgbClr val="4A5568"/>
                          </a:solidFill>
                          <a:latin typeface="Calibri" pitchFamily="34" charset="0"/>
                          <a:ea typeface="Calibri" pitchFamily="34" charset="-122"/>
                          <a:cs typeface="Calibri" pitchFamily="34" charset="-120"/>
                        </a:rPr>
                        <a:t>1, 0, 2</a:t>
                      </a:r>
                      <a:endParaRPr lang="en-US" sz="9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16" name="Shape 10"/>
          <p:cNvSpPr/>
          <p:nvPr/>
        </p:nvSpPr>
        <p:spPr>
          <a:xfrm>
            <a:off x="236764" y="4171499"/>
            <a:ext cx="5478236" cy="676656"/>
          </a:xfrm>
          <a:prstGeom prst="rect">
            <a:avLst/>
          </a:prstGeom>
          <a:solidFill>
            <a:srgbClr val="E8F5E9"/>
          </a:solidFill>
          <a:ln w="12700">
            <a:solidFill>
              <a:srgbClr val="66BB6A"/>
            </a:solidFill>
            <a:prstDash val="solid"/>
          </a:ln>
        </p:spPr>
        <p:txBody>
          <a:bodyPr/>
          <a:lstStyle/>
          <a:p>
            <a:endParaRPr lang="en-US"/>
          </a:p>
        </p:txBody>
      </p:sp>
      <p:sp>
        <p:nvSpPr>
          <p:cNvPr id="17" name="Text 11"/>
          <p:cNvSpPr/>
          <p:nvPr/>
        </p:nvSpPr>
        <p:spPr>
          <a:xfrm>
            <a:off x="305507" y="4187827"/>
            <a:ext cx="5313317" cy="676656"/>
          </a:xfrm>
          <a:prstGeom prst="rect">
            <a:avLst/>
          </a:prstGeom>
          <a:noFill/>
          <a:ln/>
        </p:spPr>
        <p:txBody>
          <a:bodyPr wrap="square" rtlCol="0" anchor="ctr"/>
          <a:lstStyle/>
          <a:p>
            <a:pPr marL="0" indent="0">
              <a:buNone/>
            </a:pPr>
            <a:r>
              <a:rPr lang="en-US" sz="950" b="1" dirty="0">
                <a:solidFill>
                  <a:srgbClr val="1A7A4A"/>
                </a:solidFill>
                <a:latin typeface="Calibri" pitchFamily="34" charset="0"/>
                <a:ea typeface="Calibri" pitchFamily="34" charset="-122"/>
                <a:cs typeface="Calibri" pitchFamily="34" charset="-120"/>
              </a:rPr>
              <a:t>Key Takeaway: </a:t>
            </a:r>
            <a:r>
              <a:rPr lang="en-US" sz="950" dirty="0">
                <a:solidFill>
                  <a:srgbClr val="4A5568"/>
                </a:solidFill>
                <a:latin typeface="Calibri" pitchFamily="34" charset="0"/>
                <a:ea typeface="Calibri" pitchFamily="34" charset="-122"/>
                <a:cs typeface="Calibri" pitchFamily="34" charset="-120"/>
              </a:rPr>
              <a:t>All categorical text responses from Google Forms were recoded into numeric values for SPSS compatibility. Value labels were added to preserve readability in output. For Chi-Square analysis, Age and Review Checking were further dichotomized into two groups each, enabling a clean 2×2 contingency table.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Research Questions &amp; Hypotheses</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4206240"/>
        </p:xfrm>
        <a:graphic>
          <a:graphicData uri="http://schemas.openxmlformats.org/drawingml/2006/table">
            <a:tbl>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7010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Statistical Test</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H₀ (Null Hypothesis)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H₁ (Alternative)</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01040">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Wilcoxon Signed-Rank</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No difference between Trust in Reviews and Negative Review Impact</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Significant difference exists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Mann–Whitney U</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No trust difference between return groups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Trust differs between return groups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701040">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Kruskal–Wallis H</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No trust difference across age groups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At least one age group differs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Chi-Square Test</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Age and review-checking behavior are independent</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Age and review-checking are associated</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701040">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Spearman Correlation</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No relationship between review-checking frequency and trust</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5568"/>
                          </a:solidFill>
                          <a:latin typeface="Calibri" pitchFamily="34" charset="0"/>
                          <a:ea typeface="Calibri" pitchFamily="34" charset="-122"/>
                          <a:cs typeface="Calibri" pitchFamily="34" charset="-120"/>
                        </a:rPr>
                        <a:t>Significant relationship exists</a:t>
                      </a:r>
                      <a:endParaRPr lang="en-US" sz="11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Wilcoxon Signed-Rank Test</a:t>
            </a:r>
            <a:endParaRPr lang="en-US" sz="2200" dirty="0"/>
          </a:p>
        </p:txBody>
      </p:sp>
      <p:sp>
        <p:nvSpPr>
          <p:cNvPr id="4" name="Shape 2"/>
          <p:cNvSpPr/>
          <p:nvPr/>
        </p:nvSpPr>
        <p:spPr>
          <a:xfrm>
            <a:off x="274320" y="777240"/>
            <a:ext cx="8595360" cy="530352"/>
          </a:xfrm>
          <a:prstGeom prst="rect">
            <a:avLst/>
          </a:prstGeom>
          <a:solidFill>
            <a:srgbClr val="F4F6F9"/>
          </a:solidFill>
          <a:ln w="12700">
            <a:solidFill>
              <a:srgbClr val="D1D9E6"/>
            </a:solidFill>
            <a:prstDash val="solid"/>
          </a:ln>
        </p:spPr>
        <p:txBody>
          <a:bodyPr/>
          <a:lstStyle/>
          <a:p>
            <a:endParaRPr lang="en-US"/>
          </a:p>
        </p:txBody>
      </p:sp>
      <p:sp>
        <p:nvSpPr>
          <p:cNvPr id="5" name="Text 3"/>
          <p:cNvSpPr/>
          <p:nvPr/>
        </p:nvSpPr>
        <p:spPr>
          <a:xfrm>
            <a:off x="411480" y="777240"/>
            <a:ext cx="8321040" cy="530352"/>
          </a:xfrm>
          <a:prstGeom prst="rect">
            <a:avLst/>
          </a:prstGeom>
          <a:noFill/>
          <a:ln/>
        </p:spPr>
        <p:txBody>
          <a:bodyPr wrap="square" rtlCol="0" anchor="ctr"/>
          <a:lstStyle/>
          <a:p>
            <a:pPr marL="0" indent="0">
              <a:buNone/>
            </a:pPr>
            <a:r>
              <a:rPr lang="en-US" sz="1200" i="1" dirty="0">
                <a:solidFill>
                  <a:srgbClr val="1B2A4A"/>
                </a:solidFill>
                <a:latin typeface="Calibri" pitchFamily="34" charset="0"/>
                <a:ea typeface="Calibri" pitchFamily="34" charset="-122"/>
                <a:cs typeface="Calibri" pitchFamily="34" charset="-120"/>
              </a:rPr>
              <a:t>Research Question: Do negative reviews influence consumers more strongly than their general trust in reviews?</a:t>
            </a:r>
            <a:endParaRPr lang="en-US" sz="1200" dirty="0"/>
          </a:p>
        </p:txBody>
      </p:sp>
      <p:sp>
        <p:nvSpPr>
          <p:cNvPr id="6" name="Text 4"/>
          <p:cNvSpPr/>
          <p:nvPr/>
        </p:nvSpPr>
        <p:spPr>
          <a:xfrm>
            <a:off x="320040" y="1417320"/>
            <a:ext cx="4023360" cy="914400"/>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H₀: </a:t>
            </a:r>
            <a:r>
              <a:rPr lang="en-US" sz="1150" dirty="0">
                <a:solidFill>
                  <a:srgbClr val="4A5568"/>
                </a:solidFill>
                <a:latin typeface="Calibri" pitchFamily="34" charset="0"/>
                <a:ea typeface="Calibri" pitchFamily="34" charset="-122"/>
                <a:cs typeface="Calibri" pitchFamily="34" charset="-120"/>
              </a:rPr>
              <a:t>No significant difference between Trust in Reviews and Negative Review Impact.
</a:t>
            </a:r>
            <a:r>
              <a:rPr lang="en-US" sz="1150" b="1" dirty="0">
                <a:solidFill>
                  <a:srgbClr val="1B2A4A"/>
                </a:solidFill>
                <a:latin typeface="Calibri" pitchFamily="34" charset="0"/>
                <a:ea typeface="Calibri" pitchFamily="34" charset="-122"/>
                <a:cs typeface="Calibri" pitchFamily="34" charset="-120"/>
              </a:rPr>
              <a:t>H₁: </a:t>
            </a:r>
            <a:r>
              <a:rPr lang="en-US" sz="1150" dirty="0">
                <a:solidFill>
                  <a:srgbClr val="4A5568"/>
                </a:solidFill>
                <a:latin typeface="Calibri" pitchFamily="34" charset="0"/>
                <a:ea typeface="Calibri" pitchFamily="34" charset="-122"/>
                <a:cs typeface="Calibri" pitchFamily="34" charset="-120"/>
              </a:rPr>
              <a:t>A significant difference exists between the two variables.</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2395728"/>
          <a:ext cx="4023360" cy="2011680"/>
        </p:xfrm>
        <a:graphic>
          <a:graphicData uri="http://schemas.openxmlformats.org/drawingml/2006/table">
            <a:tbl>
              <a:tblPr/>
              <a:tblGrid>
                <a:gridCol w="3200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Rank Group</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0D737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Negative Ranks (NegImpact &lt; TrustLevel)</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Positive Ranks (NegImpact &gt; TrustLevel)</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Ties</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b="1" dirty="0">
                          <a:solidFill>
                            <a:srgbClr val="1B2A4A"/>
                          </a:solidFill>
                          <a:latin typeface="Calibri" pitchFamily="34" charset="0"/>
                          <a:ea typeface="Calibri" pitchFamily="34" charset="-122"/>
                          <a:cs typeface="Calibri" pitchFamily="34" charset="-120"/>
                        </a:rPr>
                        <a:t>81</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8" name="Shape 5"/>
          <p:cNvSpPr/>
          <p:nvPr/>
        </p:nvSpPr>
        <p:spPr>
          <a:xfrm>
            <a:off x="4663440" y="1389888"/>
            <a:ext cx="1920240" cy="749808"/>
          </a:xfrm>
          <a:prstGeom prst="rect">
            <a:avLst/>
          </a:prstGeom>
          <a:solidFill>
            <a:srgbClr val="F4F6F9"/>
          </a:solidFill>
          <a:ln w="12700">
            <a:solidFill>
              <a:srgbClr val="D1D9E6"/>
            </a:solidFill>
            <a:prstDash val="solid"/>
          </a:ln>
        </p:spPr>
        <p:txBody>
          <a:bodyPr/>
          <a:lstStyle/>
          <a:p>
            <a:endParaRPr lang="en-US"/>
          </a:p>
        </p:txBody>
      </p:sp>
      <p:sp>
        <p:nvSpPr>
          <p:cNvPr id="7" name="Text 6"/>
          <p:cNvSpPr/>
          <p:nvPr/>
        </p:nvSpPr>
        <p:spPr>
          <a:xfrm>
            <a:off x="4663440" y="1417320"/>
            <a:ext cx="1920240" cy="256032"/>
          </a:xfrm>
          <a:prstGeom prst="rect">
            <a:avLst/>
          </a:prstGeom>
          <a:noFill/>
          <a:ln/>
        </p:spPr>
        <p:txBody>
          <a:bodyPr wrap="square" rtlCol="0" anchor="ctr"/>
          <a:lstStyle/>
          <a:p>
            <a:pPr marL="0" indent="0" algn="ctr">
              <a:buNone/>
            </a:pPr>
            <a:r>
              <a:rPr lang="en-US" sz="1000" dirty="0">
                <a:solidFill>
                  <a:srgbClr val="718096"/>
                </a:solidFill>
                <a:latin typeface="Calibri" pitchFamily="34" charset="0"/>
                <a:ea typeface="Calibri" pitchFamily="34" charset="-122"/>
                <a:cs typeface="Calibri" pitchFamily="34" charset="-120"/>
              </a:rPr>
              <a:t>Z-Statistic</a:t>
            </a:r>
            <a:endParaRPr lang="en-US" sz="1000" dirty="0"/>
          </a:p>
        </p:txBody>
      </p:sp>
      <p:sp>
        <p:nvSpPr>
          <p:cNvPr id="10" name="Text 7"/>
          <p:cNvSpPr/>
          <p:nvPr/>
        </p:nvSpPr>
        <p:spPr>
          <a:xfrm>
            <a:off x="4663440" y="1664208"/>
            <a:ext cx="1920240" cy="384048"/>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-2.997</a:t>
            </a:r>
            <a:endParaRPr lang="en-US" sz="1800" dirty="0"/>
          </a:p>
        </p:txBody>
      </p:sp>
      <p:sp>
        <p:nvSpPr>
          <p:cNvPr id="11" name="Shape 8"/>
          <p:cNvSpPr/>
          <p:nvPr/>
        </p:nvSpPr>
        <p:spPr>
          <a:xfrm>
            <a:off x="6812280" y="1389888"/>
            <a:ext cx="1920240" cy="749808"/>
          </a:xfrm>
          <a:prstGeom prst="rect">
            <a:avLst/>
          </a:prstGeom>
          <a:solidFill>
            <a:srgbClr val="0D7377"/>
          </a:solidFill>
          <a:ln w="12700">
            <a:solidFill>
              <a:srgbClr val="0D7377"/>
            </a:solidFill>
            <a:prstDash val="solid"/>
          </a:ln>
        </p:spPr>
        <p:txBody>
          <a:bodyPr/>
          <a:lstStyle/>
          <a:p>
            <a:endParaRPr lang="en-US"/>
          </a:p>
        </p:txBody>
      </p:sp>
      <p:sp>
        <p:nvSpPr>
          <p:cNvPr id="12" name="Text 9"/>
          <p:cNvSpPr/>
          <p:nvPr/>
        </p:nvSpPr>
        <p:spPr>
          <a:xfrm>
            <a:off x="6812280" y="1417320"/>
            <a:ext cx="1920240" cy="256032"/>
          </a:xfrm>
          <a:prstGeom prst="rect">
            <a:avLst/>
          </a:prstGeom>
          <a:noFill/>
          <a:ln/>
        </p:spPr>
        <p:txBody>
          <a:bodyPr wrap="square" rtlCol="0" anchor="ctr"/>
          <a:lstStyle/>
          <a:p>
            <a:pPr marL="0" indent="0" algn="ctr">
              <a:buNone/>
            </a:pPr>
            <a:r>
              <a:rPr lang="en-US" sz="1000" dirty="0">
                <a:solidFill>
                  <a:srgbClr val="B0E0E8"/>
                </a:solidFill>
                <a:latin typeface="Calibri" pitchFamily="34" charset="0"/>
                <a:ea typeface="Calibri" pitchFamily="34" charset="-122"/>
                <a:cs typeface="Calibri" pitchFamily="34" charset="-120"/>
              </a:rPr>
              <a:t>p-value</a:t>
            </a:r>
            <a:endParaRPr lang="en-US" sz="1000" dirty="0"/>
          </a:p>
        </p:txBody>
      </p:sp>
      <p:sp>
        <p:nvSpPr>
          <p:cNvPr id="13" name="Text 10"/>
          <p:cNvSpPr/>
          <p:nvPr/>
        </p:nvSpPr>
        <p:spPr>
          <a:xfrm>
            <a:off x="6812280" y="1664208"/>
            <a:ext cx="19202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0.003</a:t>
            </a:r>
            <a:endParaRPr lang="en-US" sz="1800" dirty="0"/>
          </a:p>
        </p:txBody>
      </p:sp>
      <p:sp>
        <p:nvSpPr>
          <p:cNvPr id="14" name="Shape 11"/>
          <p:cNvSpPr/>
          <p:nvPr/>
        </p:nvSpPr>
        <p:spPr>
          <a:xfrm>
            <a:off x="4663440" y="2304288"/>
            <a:ext cx="1920240" cy="749808"/>
          </a:xfrm>
          <a:prstGeom prst="rect">
            <a:avLst/>
          </a:prstGeom>
          <a:solidFill>
            <a:srgbClr val="F4F6F9"/>
          </a:solidFill>
          <a:ln w="12700">
            <a:solidFill>
              <a:srgbClr val="D1D9E6"/>
            </a:solidFill>
            <a:prstDash val="solid"/>
          </a:ln>
        </p:spPr>
        <p:txBody>
          <a:bodyPr/>
          <a:lstStyle/>
          <a:p>
            <a:endParaRPr lang="en-US"/>
          </a:p>
        </p:txBody>
      </p:sp>
      <p:sp>
        <p:nvSpPr>
          <p:cNvPr id="15" name="Text 12"/>
          <p:cNvSpPr/>
          <p:nvPr/>
        </p:nvSpPr>
        <p:spPr>
          <a:xfrm>
            <a:off x="4663440" y="2331720"/>
            <a:ext cx="1920240" cy="256032"/>
          </a:xfrm>
          <a:prstGeom prst="rect">
            <a:avLst/>
          </a:prstGeom>
          <a:noFill/>
          <a:ln/>
        </p:spPr>
        <p:txBody>
          <a:bodyPr wrap="square" rtlCol="0" anchor="ctr"/>
          <a:lstStyle/>
          <a:p>
            <a:pPr marL="0" indent="0" algn="ctr">
              <a:buNone/>
            </a:pPr>
            <a:r>
              <a:rPr lang="en-US" sz="1000" dirty="0">
                <a:solidFill>
                  <a:srgbClr val="718096"/>
                </a:solidFill>
                <a:latin typeface="Calibri" pitchFamily="34" charset="0"/>
                <a:ea typeface="Calibri" pitchFamily="34" charset="-122"/>
                <a:cs typeface="Calibri" pitchFamily="34" charset="-120"/>
              </a:rPr>
              <a:t>α level</a:t>
            </a:r>
            <a:endParaRPr lang="en-US" sz="1000" dirty="0"/>
          </a:p>
        </p:txBody>
      </p:sp>
      <p:sp>
        <p:nvSpPr>
          <p:cNvPr id="16" name="Text 13"/>
          <p:cNvSpPr/>
          <p:nvPr/>
        </p:nvSpPr>
        <p:spPr>
          <a:xfrm>
            <a:off x="4663440" y="2578608"/>
            <a:ext cx="1920240" cy="384048"/>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0.05</a:t>
            </a:r>
            <a:endParaRPr lang="en-US" sz="1800" dirty="0"/>
          </a:p>
        </p:txBody>
      </p:sp>
      <p:sp>
        <p:nvSpPr>
          <p:cNvPr id="17" name="Shape 14"/>
          <p:cNvSpPr/>
          <p:nvPr/>
        </p:nvSpPr>
        <p:spPr>
          <a:xfrm>
            <a:off x="6812280" y="2304288"/>
            <a:ext cx="1920240" cy="749808"/>
          </a:xfrm>
          <a:prstGeom prst="rect">
            <a:avLst/>
          </a:prstGeom>
          <a:solidFill>
            <a:srgbClr val="0D7377"/>
          </a:solidFill>
          <a:ln w="12700">
            <a:solidFill>
              <a:srgbClr val="0D7377"/>
            </a:solidFill>
            <a:prstDash val="solid"/>
          </a:ln>
        </p:spPr>
        <p:txBody>
          <a:bodyPr/>
          <a:lstStyle/>
          <a:p>
            <a:endParaRPr lang="en-US"/>
          </a:p>
        </p:txBody>
      </p:sp>
      <p:sp>
        <p:nvSpPr>
          <p:cNvPr id="18" name="Text 15"/>
          <p:cNvSpPr/>
          <p:nvPr/>
        </p:nvSpPr>
        <p:spPr>
          <a:xfrm>
            <a:off x="6812280" y="2331720"/>
            <a:ext cx="1920240" cy="256032"/>
          </a:xfrm>
          <a:prstGeom prst="rect">
            <a:avLst/>
          </a:prstGeom>
          <a:noFill/>
          <a:ln/>
        </p:spPr>
        <p:txBody>
          <a:bodyPr wrap="square" rtlCol="0" anchor="ctr"/>
          <a:lstStyle/>
          <a:p>
            <a:pPr marL="0" indent="0" algn="ctr">
              <a:buNone/>
            </a:pPr>
            <a:r>
              <a:rPr lang="en-US" sz="1000" dirty="0">
                <a:solidFill>
                  <a:srgbClr val="B0E0E8"/>
                </a:solidFill>
                <a:latin typeface="Calibri" pitchFamily="34" charset="0"/>
                <a:ea typeface="Calibri" pitchFamily="34" charset="-122"/>
                <a:cs typeface="Calibri" pitchFamily="34" charset="-120"/>
              </a:rPr>
              <a:t>Decision</a:t>
            </a:r>
            <a:endParaRPr lang="en-US" sz="1000" dirty="0"/>
          </a:p>
        </p:txBody>
      </p:sp>
      <p:sp>
        <p:nvSpPr>
          <p:cNvPr id="19" name="Text 16"/>
          <p:cNvSpPr/>
          <p:nvPr/>
        </p:nvSpPr>
        <p:spPr>
          <a:xfrm>
            <a:off x="6812280" y="2578608"/>
            <a:ext cx="19202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Reject H₀</a:t>
            </a:r>
            <a:endParaRPr lang="en-US" sz="1800" dirty="0"/>
          </a:p>
        </p:txBody>
      </p:sp>
      <p:sp>
        <p:nvSpPr>
          <p:cNvPr id="20" name="Shape 17"/>
          <p:cNvSpPr/>
          <p:nvPr/>
        </p:nvSpPr>
        <p:spPr>
          <a:xfrm>
            <a:off x="4663440" y="3273552"/>
            <a:ext cx="4160520" cy="1115568"/>
          </a:xfrm>
          <a:prstGeom prst="rect">
            <a:avLst/>
          </a:prstGeom>
          <a:solidFill>
            <a:srgbClr val="E8F5E9"/>
          </a:solidFill>
          <a:ln w="12700">
            <a:solidFill>
              <a:srgbClr val="66BB6A"/>
            </a:solidFill>
            <a:prstDash val="solid"/>
          </a:ln>
        </p:spPr>
        <p:txBody>
          <a:bodyPr/>
          <a:lstStyle/>
          <a:p>
            <a:endParaRPr lang="en-US"/>
          </a:p>
        </p:txBody>
      </p:sp>
      <p:sp>
        <p:nvSpPr>
          <p:cNvPr id="21" name="Text 18"/>
          <p:cNvSpPr/>
          <p:nvPr/>
        </p:nvSpPr>
        <p:spPr>
          <a:xfrm>
            <a:off x="4754880" y="3319272"/>
            <a:ext cx="3977640" cy="1024128"/>
          </a:xfrm>
          <a:prstGeom prst="rect">
            <a:avLst/>
          </a:prstGeom>
          <a:noFill/>
          <a:ln/>
        </p:spPr>
        <p:txBody>
          <a:bodyPr wrap="square" rtlCol="0" anchor="ctr"/>
          <a:lstStyle/>
          <a:p>
            <a:pPr marL="0" indent="0">
              <a:buNone/>
            </a:pPr>
            <a:r>
              <a:rPr lang="en-US" sz="1150" b="1" dirty="0">
                <a:solidFill>
                  <a:srgbClr val="1A7A4A"/>
                </a:solidFill>
                <a:latin typeface="Calibri" pitchFamily="34" charset="0"/>
                <a:ea typeface="Calibri" pitchFamily="34" charset="-122"/>
                <a:cs typeface="Calibri" pitchFamily="34" charset="-120"/>
              </a:rPr>
              <a:t>Conclusion: </a:t>
            </a:r>
            <a:r>
              <a:rPr lang="en-US" sz="1150" dirty="0">
                <a:solidFill>
                  <a:srgbClr val="4A5568"/>
                </a:solidFill>
                <a:latin typeface="Calibri" pitchFamily="34" charset="0"/>
                <a:ea typeface="Calibri" pitchFamily="34" charset="-122"/>
                <a:cs typeface="Calibri" pitchFamily="34" charset="-120"/>
              </a:rPr>
              <a:t>Negative reviews have a significantly stronger influence on Pakistani consumers than their general trust in reviews (Z = −2.997, p = .003 &lt; .05).</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Chi-Square Test of Independence</a:t>
            </a:r>
            <a:endParaRPr lang="en-US" sz="2200" dirty="0"/>
          </a:p>
        </p:txBody>
      </p:sp>
      <p:sp>
        <p:nvSpPr>
          <p:cNvPr id="4" name="Shape 2"/>
          <p:cNvSpPr/>
          <p:nvPr/>
        </p:nvSpPr>
        <p:spPr>
          <a:xfrm>
            <a:off x="274320" y="777240"/>
            <a:ext cx="8595360" cy="502920"/>
          </a:xfrm>
          <a:prstGeom prst="rect">
            <a:avLst/>
          </a:prstGeom>
          <a:solidFill>
            <a:srgbClr val="F4F6F9"/>
          </a:solidFill>
          <a:ln w="12700">
            <a:solidFill>
              <a:srgbClr val="D1D9E6"/>
            </a:solidFill>
            <a:prstDash val="solid"/>
          </a:ln>
        </p:spPr>
        <p:txBody>
          <a:bodyPr/>
          <a:lstStyle/>
          <a:p>
            <a:endParaRPr lang="en-US"/>
          </a:p>
        </p:txBody>
      </p:sp>
      <p:sp>
        <p:nvSpPr>
          <p:cNvPr id="5" name="Text 3"/>
          <p:cNvSpPr/>
          <p:nvPr/>
        </p:nvSpPr>
        <p:spPr>
          <a:xfrm>
            <a:off x="411480" y="777240"/>
            <a:ext cx="8321040" cy="502920"/>
          </a:xfrm>
          <a:prstGeom prst="rect">
            <a:avLst/>
          </a:prstGeom>
          <a:noFill/>
          <a:ln/>
        </p:spPr>
        <p:txBody>
          <a:bodyPr wrap="square" rtlCol="0" anchor="ctr"/>
          <a:lstStyle/>
          <a:p>
            <a:pPr marL="0" indent="0">
              <a:buNone/>
            </a:pPr>
            <a:r>
              <a:rPr lang="en-US" sz="1200" i="1" dirty="0">
                <a:solidFill>
                  <a:srgbClr val="1B2A4A"/>
                </a:solidFill>
                <a:latin typeface="Calibri" pitchFamily="34" charset="0"/>
                <a:ea typeface="Calibri" pitchFamily="34" charset="-122"/>
                <a:cs typeface="Calibri" pitchFamily="34" charset="-120"/>
              </a:rPr>
              <a:t>Research Question: Is there a statistically significant association between age group and review-checking behavior?</a:t>
            </a:r>
            <a:endParaRPr lang="en-US" sz="1200" dirty="0"/>
          </a:p>
        </p:txBody>
      </p:sp>
      <p:sp>
        <p:nvSpPr>
          <p:cNvPr id="6" name="Text 4"/>
          <p:cNvSpPr/>
          <p:nvPr/>
        </p:nvSpPr>
        <p:spPr>
          <a:xfrm>
            <a:off x="320040" y="1371600"/>
            <a:ext cx="4114800" cy="822960"/>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H₀: </a:t>
            </a:r>
            <a:r>
              <a:rPr lang="en-US" sz="1150" dirty="0">
                <a:solidFill>
                  <a:srgbClr val="4A5568"/>
                </a:solidFill>
                <a:latin typeface="Calibri" pitchFamily="34" charset="0"/>
                <a:ea typeface="Calibri" pitchFamily="34" charset="-122"/>
                <a:cs typeface="Calibri" pitchFamily="34" charset="-120"/>
              </a:rPr>
              <a:t>Age group and review-checking behavior are independent.
</a:t>
            </a:r>
            <a:r>
              <a:rPr lang="en-US" sz="1150" b="1" dirty="0">
                <a:solidFill>
                  <a:srgbClr val="1B2A4A"/>
                </a:solidFill>
                <a:latin typeface="Calibri" pitchFamily="34" charset="0"/>
                <a:ea typeface="Calibri" pitchFamily="34" charset="-122"/>
                <a:cs typeface="Calibri" pitchFamily="34" charset="-120"/>
              </a:rPr>
              <a:t>H₁: </a:t>
            </a:r>
            <a:r>
              <a:rPr lang="en-US" sz="1150" dirty="0">
                <a:solidFill>
                  <a:srgbClr val="4A5568"/>
                </a:solidFill>
                <a:latin typeface="Calibri" pitchFamily="34" charset="0"/>
                <a:ea typeface="Calibri" pitchFamily="34" charset="-122"/>
                <a:cs typeface="Calibri" pitchFamily="34" charset="-120"/>
              </a:rPr>
              <a:t>Age group and review-checking behavior are associated.</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2304288"/>
          <a:ext cx="4114800" cy="1417320"/>
        </p:xfrm>
        <a:graphic>
          <a:graphicData uri="http://schemas.openxmlformats.org/drawingml/2006/table">
            <a:tbl>
              <a:tblPr/>
              <a:tblGrid>
                <a:gridCol w="1645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724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Age Group</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Usually/Always Check</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Sometimes or Less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72440">
                <a:tc>
                  <a:txBody>
                    <a:bodyPr/>
                    <a:lstStyle/>
                    <a:p>
                      <a:pPr marL="0" indent="0">
                        <a:buNone/>
                      </a:pPr>
                      <a:r>
                        <a:rPr lang="en-US" sz="1200" dirty="0">
                          <a:solidFill>
                            <a:srgbClr val="4A5568"/>
                          </a:solidFill>
                          <a:latin typeface="Calibri" pitchFamily="34" charset="0"/>
                          <a:ea typeface="Calibri" pitchFamily="34" charset="-122"/>
                          <a:cs typeface="Calibri" pitchFamily="34" charset="-120"/>
                        </a:rPr>
                        <a:t>18–27 years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A4A"/>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2440">
                <a:tc>
                  <a:txBody>
                    <a:bodyPr/>
                    <a:lstStyle/>
                    <a:p>
                      <a:pPr marL="0" indent="0">
                        <a:buNone/>
                      </a:pPr>
                      <a:r>
                        <a:rPr lang="en-US" sz="1200" dirty="0">
                          <a:solidFill>
                            <a:srgbClr val="4A5568"/>
                          </a:solidFill>
                          <a:latin typeface="Calibri" pitchFamily="34" charset="0"/>
                          <a:ea typeface="Calibri" pitchFamily="34" charset="-122"/>
                          <a:cs typeface="Calibri" pitchFamily="34" charset="-120"/>
                        </a:rPr>
                        <a:t>28+ years</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bl>
          </a:graphicData>
        </a:graphic>
      </p:graphicFrame>
      <p:sp>
        <p:nvSpPr>
          <p:cNvPr id="8" name="Shape 5"/>
          <p:cNvSpPr/>
          <p:nvPr/>
        </p:nvSpPr>
        <p:spPr>
          <a:xfrm>
            <a:off x="4663440" y="1371600"/>
            <a:ext cx="1920240" cy="749808"/>
          </a:xfrm>
          <a:prstGeom prst="rect">
            <a:avLst/>
          </a:prstGeom>
          <a:solidFill>
            <a:srgbClr val="F4F6F9"/>
          </a:solidFill>
          <a:ln w="12700">
            <a:solidFill>
              <a:srgbClr val="D1D9E6"/>
            </a:solidFill>
            <a:prstDash val="solid"/>
          </a:ln>
        </p:spPr>
        <p:txBody>
          <a:bodyPr/>
          <a:lstStyle/>
          <a:p>
            <a:endParaRPr lang="en-US"/>
          </a:p>
        </p:txBody>
      </p:sp>
      <p:sp>
        <p:nvSpPr>
          <p:cNvPr id="9" name="Text 6"/>
          <p:cNvSpPr/>
          <p:nvPr/>
        </p:nvSpPr>
        <p:spPr>
          <a:xfrm>
            <a:off x="4663440" y="1399032"/>
            <a:ext cx="1920240" cy="256032"/>
          </a:xfrm>
          <a:prstGeom prst="rect">
            <a:avLst/>
          </a:prstGeom>
          <a:noFill/>
          <a:ln/>
        </p:spPr>
        <p:txBody>
          <a:bodyPr wrap="square" rtlCol="0" anchor="ctr"/>
          <a:lstStyle/>
          <a:p>
            <a:pPr marL="0" indent="0" algn="ctr">
              <a:buNone/>
            </a:pPr>
            <a:r>
              <a:rPr lang="en-US" sz="1000" dirty="0">
                <a:solidFill>
                  <a:srgbClr val="718096"/>
                </a:solidFill>
                <a:latin typeface="Calibri" pitchFamily="34" charset="0"/>
                <a:ea typeface="Calibri" pitchFamily="34" charset="-122"/>
                <a:cs typeface="Calibri" pitchFamily="34" charset="-120"/>
              </a:rPr>
              <a:t>Pearson χ²</a:t>
            </a:r>
            <a:endParaRPr lang="en-US" sz="1000" dirty="0"/>
          </a:p>
        </p:txBody>
      </p:sp>
      <p:sp>
        <p:nvSpPr>
          <p:cNvPr id="7" name="Text 7"/>
          <p:cNvSpPr/>
          <p:nvPr/>
        </p:nvSpPr>
        <p:spPr>
          <a:xfrm>
            <a:off x="4663440" y="1645920"/>
            <a:ext cx="1920240" cy="384048"/>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6.809</a:t>
            </a:r>
            <a:endParaRPr lang="en-US" sz="1800" dirty="0"/>
          </a:p>
        </p:txBody>
      </p:sp>
      <p:sp>
        <p:nvSpPr>
          <p:cNvPr id="11" name="Shape 8"/>
          <p:cNvSpPr/>
          <p:nvPr/>
        </p:nvSpPr>
        <p:spPr>
          <a:xfrm>
            <a:off x="6812280" y="1371600"/>
            <a:ext cx="1920240" cy="749808"/>
          </a:xfrm>
          <a:prstGeom prst="rect">
            <a:avLst/>
          </a:prstGeom>
          <a:solidFill>
            <a:srgbClr val="F4F6F9"/>
          </a:solidFill>
          <a:ln w="12700">
            <a:solidFill>
              <a:srgbClr val="D1D9E6"/>
            </a:solidFill>
            <a:prstDash val="solid"/>
          </a:ln>
        </p:spPr>
        <p:txBody>
          <a:bodyPr/>
          <a:lstStyle/>
          <a:p>
            <a:endParaRPr lang="en-US"/>
          </a:p>
        </p:txBody>
      </p:sp>
      <p:sp>
        <p:nvSpPr>
          <p:cNvPr id="12" name="Text 9"/>
          <p:cNvSpPr/>
          <p:nvPr/>
        </p:nvSpPr>
        <p:spPr>
          <a:xfrm>
            <a:off x="6812280" y="1399032"/>
            <a:ext cx="1920240" cy="256032"/>
          </a:xfrm>
          <a:prstGeom prst="rect">
            <a:avLst/>
          </a:prstGeom>
          <a:noFill/>
          <a:ln/>
        </p:spPr>
        <p:txBody>
          <a:bodyPr wrap="square" rtlCol="0" anchor="ctr"/>
          <a:lstStyle/>
          <a:p>
            <a:pPr marL="0" indent="0" algn="ctr">
              <a:buNone/>
            </a:pPr>
            <a:r>
              <a:rPr lang="en-US" sz="1000" dirty="0">
                <a:solidFill>
                  <a:srgbClr val="718096"/>
                </a:solidFill>
                <a:latin typeface="Calibri" pitchFamily="34" charset="0"/>
                <a:ea typeface="Calibri" pitchFamily="34" charset="-122"/>
                <a:cs typeface="Calibri" pitchFamily="34" charset="-120"/>
              </a:rPr>
              <a:t>df</a:t>
            </a:r>
            <a:endParaRPr lang="en-US" sz="1000" dirty="0"/>
          </a:p>
        </p:txBody>
      </p:sp>
      <p:sp>
        <p:nvSpPr>
          <p:cNvPr id="13" name="Text 10"/>
          <p:cNvSpPr/>
          <p:nvPr/>
        </p:nvSpPr>
        <p:spPr>
          <a:xfrm>
            <a:off x="6812280" y="1645920"/>
            <a:ext cx="1920240" cy="384048"/>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1</a:t>
            </a:r>
            <a:endParaRPr lang="en-US" sz="1800" dirty="0"/>
          </a:p>
        </p:txBody>
      </p:sp>
      <p:sp>
        <p:nvSpPr>
          <p:cNvPr id="14" name="Shape 11"/>
          <p:cNvSpPr/>
          <p:nvPr/>
        </p:nvSpPr>
        <p:spPr>
          <a:xfrm>
            <a:off x="4663440" y="2286000"/>
            <a:ext cx="1920240" cy="749808"/>
          </a:xfrm>
          <a:prstGeom prst="rect">
            <a:avLst/>
          </a:prstGeom>
          <a:solidFill>
            <a:srgbClr val="0D7377"/>
          </a:solidFill>
          <a:ln w="12700">
            <a:solidFill>
              <a:srgbClr val="0D7377"/>
            </a:solidFill>
            <a:prstDash val="solid"/>
          </a:ln>
        </p:spPr>
        <p:txBody>
          <a:bodyPr/>
          <a:lstStyle/>
          <a:p>
            <a:endParaRPr lang="en-US"/>
          </a:p>
        </p:txBody>
      </p:sp>
      <p:sp>
        <p:nvSpPr>
          <p:cNvPr id="15" name="Text 12"/>
          <p:cNvSpPr/>
          <p:nvPr/>
        </p:nvSpPr>
        <p:spPr>
          <a:xfrm>
            <a:off x="4663440" y="2313432"/>
            <a:ext cx="1920240" cy="256032"/>
          </a:xfrm>
          <a:prstGeom prst="rect">
            <a:avLst/>
          </a:prstGeom>
          <a:noFill/>
          <a:ln/>
        </p:spPr>
        <p:txBody>
          <a:bodyPr wrap="square" rtlCol="0" anchor="ctr"/>
          <a:lstStyle/>
          <a:p>
            <a:pPr marL="0" indent="0" algn="ctr">
              <a:buNone/>
            </a:pPr>
            <a:r>
              <a:rPr lang="en-US" sz="1000" dirty="0">
                <a:solidFill>
                  <a:srgbClr val="B0E0E8"/>
                </a:solidFill>
                <a:latin typeface="Calibri" pitchFamily="34" charset="0"/>
                <a:ea typeface="Calibri" pitchFamily="34" charset="-122"/>
                <a:cs typeface="Calibri" pitchFamily="34" charset="-120"/>
              </a:rPr>
              <a:t>p-value</a:t>
            </a:r>
            <a:endParaRPr lang="en-US" sz="1000" dirty="0"/>
          </a:p>
        </p:txBody>
      </p:sp>
      <p:sp>
        <p:nvSpPr>
          <p:cNvPr id="16" name="Text 13"/>
          <p:cNvSpPr/>
          <p:nvPr/>
        </p:nvSpPr>
        <p:spPr>
          <a:xfrm>
            <a:off x="4663440" y="2560320"/>
            <a:ext cx="19202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0.009</a:t>
            </a:r>
            <a:endParaRPr lang="en-US" sz="1800" dirty="0"/>
          </a:p>
        </p:txBody>
      </p:sp>
      <p:sp>
        <p:nvSpPr>
          <p:cNvPr id="17" name="Shape 14"/>
          <p:cNvSpPr/>
          <p:nvPr/>
        </p:nvSpPr>
        <p:spPr>
          <a:xfrm>
            <a:off x="6812280" y="2286000"/>
            <a:ext cx="1920240" cy="749808"/>
          </a:xfrm>
          <a:prstGeom prst="rect">
            <a:avLst/>
          </a:prstGeom>
          <a:solidFill>
            <a:srgbClr val="F4F6F9"/>
          </a:solidFill>
          <a:ln w="12700">
            <a:solidFill>
              <a:srgbClr val="D1D9E6"/>
            </a:solidFill>
            <a:prstDash val="solid"/>
          </a:ln>
        </p:spPr>
        <p:txBody>
          <a:bodyPr/>
          <a:lstStyle/>
          <a:p>
            <a:endParaRPr lang="en-US"/>
          </a:p>
        </p:txBody>
      </p:sp>
      <p:sp>
        <p:nvSpPr>
          <p:cNvPr id="18" name="Text 15"/>
          <p:cNvSpPr/>
          <p:nvPr/>
        </p:nvSpPr>
        <p:spPr>
          <a:xfrm>
            <a:off x="6812280" y="2313432"/>
            <a:ext cx="1920240" cy="256032"/>
          </a:xfrm>
          <a:prstGeom prst="rect">
            <a:avLst/>
          </a:prstGeom>
          <a:noFill/>
          <a:ln/>
        </p:spPr>
        <p:txBody>
          <a:bodyPr wrap="square" rtlCol="0" anchor="ctr"/>
          <a:lstStyle/>
          <a:p>
            <a:pPr marL="0" indent="0" algn="ctr">
              <a:buNone/>
            </a:pPr>
            <a:r>
              <a:rPr lang="en-US" sz="1000" dirty="0">
                <a:solidFill>
                  <a:srgbClr val="718096"/>
                </a:solidFill>
                <a:latin typeface="Calibri" pitchFamily="34" charset="0"/>
                <a:ea typeface="Calibri" pitchFamily="34" charset="-122"/>
                <a:cs typeface="Calibri" pitchFamily="34" charset="-120"/>
              </a:rPr>
              <a:t>Cramér's V</a:t>
            </a:r>
            <a:endParaRPr lang="en-US" sz="1000" dirty="0"/>
          </a:p>
        </p:txBody>
      </p:sp>
      <p:sp>
        <p:nvSpPr>
          <p:cNvPr id="19" name="Text 16"/>
          <p:cNvSpPr/>
          <p:nvPr/>
        </p:nvSpPr>
        <p:spPr>
          <a:xfrm>
            <a:off x="6812280" y="2560320"/>
            <a:ext cx="1920240" cy="384048"/>
          </a:xfrm>
          <a:prstGeom prst="rect">
            <a:avLst/>
          </a:prstGeom>
          <a:noFill/>
          <a:ln/>
        </p:spPr>
        <p:txBody>
          <a:bodyPr wrap="square" rtlCol="0" anchor="ctr"/>
          <a:lstStyle/>
          <a:p>
            <a:pPr marL="0" indent="0" algn="ctr">
              <a:buNone/>
            </a:pPr>
            <a:r>
              <a:rPr lang="en-US" sz="1800" b="1" dirty="0">
                <a:solidFill>
                  <a:srgbClr val="1B2A4A"/>
                </a:solidFill>
                <a:latin typeface="Calibri" pitchFamily="34" charset="0"/>
                <a:ea typeface="Calibri" pitchFamily="34" charset="-122"/>
                <a:cs typeface="Calibri" pitchFamily="34" charset="-120"/>
              </a:rPr>
              <a:t>0.366</a:t>
            </a:r>
            <a:endParaRPr lang="en-US" sz="1800" dirty="0"/>
          </a:p>
        </p:txBody>
      </p:sp>
      <p:sp>
        <p:nvSpPr>
          <p:cNvPr id="20" name="Shape 17"/>
          <p:cNvSpPr/>
          <p:nvPr/>
        </p:nvSpPr>
        <p:spPr>
          <a:xfrm>
            <a:off x="4663440" y="3273552"/>
            <a:ext cx="4160520" cy="1143000"/>
          </a:xfrm>
          <a:prstGeom prst="rect">
            <a:avLst/>
          </a:prstGeom>
          <a:solidFill>
            <a:srgbClr val="E8F5E9"/>
          </a:solidFill>
          <a:ln w="12700">
            <a:solidFill>
              <a:srgbClr val="66BB6A"/>
            </a:solidFill>
            <a:prstDash val="solid"/>
          </a:ln>
        </p:spPr>
        <p:txBody>
          <a:bodyPr/>
          <a:lstStyle/>
          <a:p>
            <a:endParaRPr lang="en-US"/>
          </a:p>
        </p:txBody>
      </p:sp>
      <p:sp>
        <p:nvSpPr>
          <p:cNvPr id="21" name="Text 18"/>
          <p:cNvSpPr/>
          <p:nvPr/>
        </p:nvSpPr>
        <p:spPr>
          <a:xfrm>
            <a:off x="4754880" y="3310128"/>
            <a:ext cx="3977640" cy="1042416"/>
          </a:xfrm>
          <a:prstGeom prst="rect">
            <a:avLst/>
          </a:prstGeom>
          <a:noFill/>
          <a:ln/>
        </p:spPr>
        <p:txBody>
          <a:bodyPr wrap="square" rtlCol="0" anchor="ctr"/>
          <a:lstStyle/>
          <a:p>
            <a:pPr marL="0" indent="0">
              <a:buNone/>
            </a:pPr>
            <a:r>
              <a:rPr lang="en-US" sz="1150" b="1" dirty="0">
                <a:solidFill>
                  <a:srgbClr val="1A7A4A"/>
                </a:solidFill>
                <a:latin typeface="Calibri" pitchFamily="34" charset="0"/>
                <a:ea typeface="Calibri" pitchFamily="34" charset="-122"/>
                <a:cs typeface="Calibri" pitchFamily="34" charset="-120"/>
              </a:rPr>
              <a:t>Conclusion: </a:t>
            </a:r>
            <a:r>
              <a:rPr lang="en-US" sz="1150" dirty="0">
                <a:solidFill>
                  <a:srgbClr val="4A5568"/>
                </a:solidFill>
                <a:latin typeface="Calibri" pitchFamily="34" charset="0"/>
                <a:ea typeface="Calibri" pitchFamily="34" charset="-122"/>
                <a:cs typeface="Calibri" pitchFamily="34" charset="-120"/>
              </a:rPr>
              <a:t>Significant association found (χ² = 6.809, p = .009). Younger consumers (18–27) are more likely to check reviews. Effect size is moderate (Cramér's V = 0.366). Reject H₀.</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Spearman Correlation</a:t>
            </a:r>
            <a:endParaRPr lang="en-US" sz="2200" dirty="0"/>
          </a:p>
        </p:txBody>
      </p:sp>
      <p:sp>
        <p:nvSpPr>
          <p:cNvPr id="4" name="Shape 2"/>
          <p:cNvSpPr/>
          <p:nvPr/>
        </p:nvSpPr>
        <p:spPr>
          <a:xfrm>
            <a:off x="274320" y="777240"/>
            <a:ext cx="8595360" cy="502920"/>
          </a:xfrm>
          <a:prstGeom prst="rect">
            <a:avLst/>
          </a:prstGeom>
          <a:solidFill>
            <a:srgbClr val="F4F6F9"/>
          </a:solidFill>
          <a:ln w="12700">
            <a:solidFill>
              <a:srgbClr val="D1D9E6"/>
            </a:solidFill>
            <a:prstDash val="solid"/>
          </a:ln>
        </p:spPr>
        <p:txBody>
          <a:bodyPr/>
          <a:lstStyle/>
          <a:p>
            <a:endParaRPr lang="en-US"/>
          </a:p>
        </p:txBody>
      </p:sp>
      <p:sp>
        <p:nvSpPr>
          <p:cNvPr id="5" name="Text 3"/>
          <p:cNvSpPr/>
          <p:nvPr/>
        </p:nvSpPr>
        <p:spPr>
          <a:xfrm>
            <a:off x="411480" y="777240"/>
            <a:ext cx="8321040" cy="502920"/>
          </a:xfrm>
          <a:prstGeom prst="rect">
            <a:avLst/>
          </a:prstGeom>
          <a:noFill/>
          <a:ln/>
        </p:spPr>
        <p:txBody>
          <a:bodyPr wrap="square" rtlCol="0" anchor="ctr"/>
          <a:lstStyle/>
          <a:p>
            <a:pPr marL="0" indent="0">
              <a:buNone/>
            </a:pPr>
            <a:r>
              <a:rPr lang="en-US" sz="1200" i="1" dirty="0">
                <a:solidFill>
                  <a:srgbClr val="1B2A4A"/>
                </a:solidFill>
                <a:latin typeface="Calibri" pitchFamily="34" charset="0"/>
                <a:ea typeface="Calibri" pitchFamily="34" charset="-122"/>
                <a:cs typeface="Calibri" pitchFamily="34" charset="-120"/>
              </a:rPr>
              <a:t>Research Question: Is review-checking behavior related to trust in online reviews?</a:t>
            </a:r>
            <a:endParaRPr lang="en-US" sz="1200" dirty="0"/>
          </a:p>
        </p:txBody>
      </p:sp>
      <p:sp>
        <p:nvSpPr>
          <p:cNvPr id="6" name="Text 4"/>
          <p:cNvSpPr/>
          <p:nvPr/>
        </p:nvSpPr>
        <p:spPr>
          <a:xfrm>
            <a:off x="320040" y="1389888"/>
            <a:ext cx="4572000" cy="1005840"/>
          </a:xfrm>
          <a:prstGeom prst="rect">
            <a:avLst/>
          </a:prstGeom>
          <a:noFill/>
          <a:ln/>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H₀: </a:t>
            </a:r>
            <a:r>
              <a:rPr lang="en-US" sz="1150" dirty="0">
                <a:solidFill>
                  <a:srgbClr val="4A5568"/>
                </a:solidFill>
                <a:latin typeface="Calibri" pitchFamily="34" charset="0"/>
                <a:ea typeface="Calibri" pitchFamily="34" charset="-122"/>
                <a:cs typeface="Calibri" pitchFamily="34" charset="-120"/>
              </a:rPr>
              <a:t>No significant correlation between review-checking frequency and trust in online reviews.
</a:t>
            </a:r>
            <a:r>
              <a:rPr lang="en-US" sz="1150" b="1" dirty="0">
                <a:solidFill>
                  <a:srgbClr val="1B2A4A"/>
                </a:solidFill>
                <a:latin typeface="Calibri" pitchFamily="34" charset="0"/>
                <a:ea typeface="Calibri" pitchFamily="34" charset="-122"/>
                <a:cs typeface="Calibri" pitchFamily="34" charset="-120"/>
              </a:rPr>
              <a:t>H₁: </a:t>
            </a:r>
            <a:r>
              <a:rPr lang="en-US" sz="1150" dirty="0">
                <a:solidFill>
                  <a:srgbClr val="4A5568"/>
                </a:solidFill>
                <a:latin typeface="Calibri" pitchFamily="34" charset="0"/>
                <a:ea typeface="Calibri" pitchFamily="34" charset="-122"/>
                <a:cs typeface="Calibri" pitchFamily="34" charset="-120"/>
              </a:rPr>
              <a:t>There is a significant correlation between review-checking frequency and trust.</a:t>
            </a:r>
            <a:endParaRPr lang="en-US" sz="1150" dirty="0"/>
          </a:p>
        </p:txBody>
      </p:sp>
      <p:sp>
        <p:nvSpPr>
          <p:cNvPr id="7" name="Shape 5"/>
          <p:cNvSpPr/>
          <p:nvPr/>
        </p:nvSpPr>
        <p:spPr>
          <a:xfrm>
            <a:off x="5074920" y="1353312"/>
            <a:ext cx="3749040" cy="242316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5074920" y="1426464"/>
            <a:ext cx="3749040" cy="411480"/>
          </a:xfrm>
          <a:prstGeom prst="rect">
            <a:avLst/>
          </a:prstGeom>
          <a:noFill/>
          <a:ln/>
        </p:spPr>
        <p:txBody>
          <a:bodyPr wrap="square" rtlCol="0" anchor="ctr"/>
          <a:lstStyle/>
          <a:p>
            <a:pPr marL="0" indent="0" algn="ctr">
              <a:buNone/>
            </a:pPr>
            <a:r>
              <a:rPr lang="en-US" sz="1300" dirty="0">
                <a:solidFill>
                  <a:srgbClr val="B0C4DE"/>
                </a:solidFill>
                <a:latin typeface="Calibri" pitchFamily="34" charset="0"/>
                <a:ea typeface="Calibri" pitchFamily="34" charset="-122"/>
                <a:cs typeface="Calibri" pitchFamily="34" charset="-120"/>
              </a:rPr>
              <a:t>Spearman's ρ</a:t>
            </a:r>
            <a:endParaRPr lang="en-US" sz="1300" dirty="0"/>
          </a:p>
        </p:txBody>
      </p:sp>
      <p:sp>
        <p:nvSpPr>
          <p:cNvPr id="9" name="Text 7"/>
          <p:cNvSpPr/>
          <p:nvPr/>
        </p:nvSpPr>
        <p:spPr>
          <a:xfrm>
            <a:off x="5074920" y="1847088"/>
            <a:ext cx="3749040" cy="914400"/>
          </a:xfrm>
          <a:prstGeom prst="rect">
            <a:avLst/>
          </a:prstGeom>
          <a:noFill/>
          <a:ln/>
        </p:spPr>
        <p:txBody>
          <a:bodyPr wrap="square" rtlCol="0" anchor="ctr"/>
          <a:lstStyle/>
          <a:p>
            <a:pPr marL="0" indent="0" algn="ctr">
              <a:buNone/>
            </a:pPr>
            <a:r>
              <a:rPr lang="en-US" sz="5400" b="1" dirty="0">
                <a:solidFill>
                  <a:srgbClr val="14BDCE"/>
                </a:solidFill>
                <a:latin typeface="Calibri" pitchFamily="34" charset="0"/>
                <a:ea typeface="Calibri" pitchFamily="34" charset="-122"/>
                <a:cs typeface="Calibri" pitchFamily="34" charset="-120"/>
              </a:rPr>
              <a:t>0.247</a:t>
            </a:r>
            <a:endParaRPr lang="en-US" sz="5400" dirty="0"/>
          </a:p>
        </p:txBody>
      </p:sp>
      <p:sp>
        <p:nvSpPr>
          <p:cNvPr id="10" name="Text 8"/>
          <p:cNvSpPr/>
          <p:nvPr/>
        </p:nvSpPr>
        <p:spPr>
          <a:xfrm>
            <a:off x="5074920" y="2816352"/>
            <a:ext cx="3749040" cy="347472"/>
          </a:xfrm>
          <a:prstGeom prst="rect">
            <a:avLst/>
          </a:prstGeom>
          <a:noFill/>
          <a:ln/>
        </p:spPr>
        <p:txBody>
          <a:bodyPr wrap="square" rtlCol="0" anchor="ctr"/>
          <a:lstStyle/>
          <a:p>
            <a:pPr marL="0" indent="0" algn="ctr">
              <a:buNone/>
            </a:pPr>
            <a:r>
              <a:rPr lang="en-US" sz="1300" b="1" dirty="0">
                <a:solidFill>
                  <a:srgbClr val="C8A951"/>
                </a:solidFill>
                <a:latin typeface="Calibri" pitchFamily="34" charset="0"/>
                <a:ea typeface="Calibri" pitchFamily="34" charset="-122"/>
                <a:cs typeface="Calibri" pitchFamily="34" charset="-120"/>
              </a:rPr>
              <a:t>p = 0.026  •  n = 81</a:t>
            </a:r>
            <a:endParaRPr lang="en-US" sz="1300" dirty="0"/>
          </a:p>
        </p:txBody>
      </p:sp>
      <p:sp>
        <p:nvSpPr>
          <p:cNvPr id="11" name="Shape 9"/>
          <p:cNvSpPr/>
          <p:nvPr/>
        </p:nvSpPr>
        <p:spPr>
          <a:xfrm>
            <a:off x="320040" y="2514600"/>
            <a:ext cx="4572000" cy="420624"/>
          </a:xfrm>
          <a:prstGeom prst="rect">
            <a:avLst/>
          </a:prstGeom>
          <a:solidFill>
            <a:srgbClr val="FFFFFF"/>
          </a:solidFill>
          <a:ln w="6350">
            <a:solidFill>
              <a:srgbClr val="D1D9E6"/>
            </a:solidFill>
            <a:prstDash val="solid"/>
          </a:ln>
        </p:spPr>
        <p:txBody>
          <a:bodyPr/>
          <a:lstStyle/>
          <a:p>
            <a:endParaRPr lang="en-US"/>
          </a:p>
        </p:txBody>
      </p:sp>
      <p:sp>
        <p:nvSpPr>
          <p:cNvPr id="12" name="Text 10"/>
          <p:cNvSpPr/>
          <p:nvPr/>
        </p:nvSpPr>
        <p:spPr>
          <a:xfrm>
            <a:off x="411480" y="2514600"/>
            <a:ext cx="4389120" cy="42062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Direction:  </a:t>
            </a:r>
            <a:r>
              <a:rPr lang="en-US" sz="1200" dirty="0">
                <a:solidFill>
                  <a:srgbClr val="4A5568"/>
                </a:solidFill>
                <a:latin typeface="Calibri" pitchFamily="34" charset="0"/>
                <a:ea typeface="Calibri" pitchFamily="34" charset="-122"/>
                <a:cs typeface="Calibri" pitchFamily="34" charset="-120"/>
              </a:rPr>
              <a:t>Positive — more checking → higher trust</a:t>
            </a:r>
            <a:endParaRPr lang="en-US" sz="1200" dirty="0"/>
          </a:p>
        </p:txBody>
      </p:sp>
      <p:sp>
        <p:nvSpPr>
          <p:cNvPr id="13" name="Shape 11"/>
          <p:cNvSpPr/>
          <p:nvPr/>
        </p:nvSpPr>
        <p:spPr>
          <a:xfrm>
            <a:off x="320040" y="2999232"/>
            <a:ext cx="4572000" cy="420624"/>
          </a:xfrm>
          <a:prstGeom prst="rect">
            <a:avLst/>
          </a:prstGeom>
          <a:solidFill>
            <a:srgbClr val="EDF2F7"/>
          </a:solidFill>
          <a:ln w="6350">
            <a:solidFill>
              <a:srgbClr val="D1D9E6"/>
            </a:solidFill>
            <a:prstDash val="solid"/>
          </a:ln>
        </p:spPr>
        <p:txBody>
          <a:bodyPr/>
          <a:lstStyle/>
          <a:p>
            <a:endParaRPr lang="en-US"/>
          </a:p>
        </p:txBody>
      </p:sp>
      <p:sp>
        <p:nvSpPr>
          <p:cNvPr id="14" name="Text 12"/>
          <p:cNvSpPr/>
          <p:nvPr/>
        </p:nvSpPr>
        <p:spPr>
          <a:xfrm>
            <a:off x="411480" y="2999232"/>
            <a:ext cx="4389120" cy="42062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Strength:  </a:t>
            </a:r>
            <a:r>
              <a:rPr lang="en-US" sz="1200" dirty="0">
                <a:solidFill>
                  <a:srgbClr val="4A5568"/>
                </a:solidFill>
                <a:latin typeface="Calibri" pitchFamily="34" charset="0"/>
                <a:ea typeface="Calibri" pitchFamily="34" charset="-122"/>
                <a:cs typeface="Calibri" pitchFamily="34" charset="-120"/>
              </a:rPr>
              <a:t>Weak (ρ = 0.247)</a:t>
            </a:r>
            <a:endParaRPr lang="en-US" sz="1200" dirty="0"/>
          </a:p>
        </p:txBody>
      </p:sp>
      <p:sp>
        <p:nvSpPr>
          <p:cNvPr id="15" name="Shape 13"/>
          <p:cNvSpPr/>
          <p:nvPr/>
        </p:nvSpPr>
        <p:spPr>
          <a:xfrm>
            <a:off x="320040" y="3483864"/>
            <a:ext cx="4572000" cy="420624"/>
          </a:xfrm>
          <a:prstGeom prst="rect">
            <a:avLst/>
          </a:prstGeom>
          <a:solidFill>
            <a:srgbClr val="FFFFFF"/>
          </a:solidFill>
          <a:ln w="6350">
            <a:solidFill>
              <a:srgbClr val="D1D9E6"/>
            </a:solidFill>
            <a:prstDash val="solid"/>
          </a:ln>
        </p:spPr>
        <p:txBody>
          <a:bodyPr/>
          <a:lstStyle/>
          <a:p>
            <a:endParaRPr lang="en-US"/>
          </a:p>
        </p:txBody>
      </p:sp>
      <p:sp>
        <p:nvSpPr>
          <p:cNvPr id="16" name="Text 14"/>
          <p:cNvSpPr/>
          <p:nvPr/>
        </p:nvSpPr>
        <p:spPr>
          <a:xfrm>
            <a:off x="411480" y="3483864"/>
            <a:ext cx="4389120" cy="42062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Significance:  </a:t>
            </a:r>
            <a:r>
              <a:rPr lang="en-US" sz="1200" dirty="0">
                <a:solidFill>
                  <a:srgbClr val="4A5568"/>
                </a:solidFill>
                <a:latin typeface="Calibri" pitchFamily="34" charset="0"/>
                <a:ea typeface="Calibri" pitchFamily="34" charset="-122"/>
                <a:cs typeface="Calibri" pitchFamily="34" charset="-120"/>
              </a:rPr>
              <a:t>p = 0.026 &lt; α = 0.05</a:t>
            </a:r>
            <a:endParaRPr lang="en-US" sz="1200" dirty="0"/>
          </a:p>
        </p:txBody>
      </p:sp>
      <p:sp>
        <p:nvSpPr>
          <p:cNvPr id="17" name="Shape 15"/>
          <p:cNvSpPr/>
          <p:nvPr/>
        </p:nvSpPr>
        <p:spPr>
          <a:xfrm>
            <a:off x="320040" y="3968496"/>
            <a:ext cx="4572000" cy="420624"/>
          </a:xfrm>
          <a:prstGeom prst="rect">
            <a:avLst/>
          </a:prstGeom>
          <a:solidFill>
            <a:srgbClr val="EDF2F7"/>
          </a:solidFill>
          <a:ln w="6350">
            <a:solidFill>
              <a:srgbClr val="D1D9E6"/>
            </a:solidFill>
            <a:prstDash val="solid"/>
          </a:ln>
        </p:spPr>
        <p:txBody>
          <a:bodyPr/>
          <a:lstStyle/>
          <a:p>
            <a:endParaRPr lang="en-US"/>
          </a:p>
        </p:txBody>
      </p:sp>
      <p:sp>
        <p:nvSpPr>
          <p:cNvPr id="18" name="Text 16"/>
          <p:cNvSpPr/>
          <p:nvPr/>
        </p:nvSpPr>
        <p:spPr>
          <a:xfrm>
            <a:off x="411480" y="3968496"/>
            <a:ext cx="4389120" cy="420624"/>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Decision:  </a:t>
            </a:r>
            <a:r>
              <a:rPr lang="en-US" sz="1200" dirty="0">
                <a:solidFill>
                  <a:srgbClr val="4A5568"/>
                </a:solidFill>
                <a:latin typeface="Calibri" pitchFamily="34" charset="0"/>
                <a:ea typeface="Calibri" pitchFamily="34" charset="-122"/>
                <a:cs typeface="Calibri" pitchFamily="34" charset="-120"/>
              </a:rPr>
              <a:t>Reject H₀</a:t>
            </a:r>
            <a:endParaRPr lang="en-US" sz="1200" dirty="0"/>
          </a:p>
        </p:txBody>
      </p:sp>
      <p:sp>
        <p:nvSpPr>
          <p:cNvPr id="19" name="Shape 17"/>
          <p:cNvSpPr/>
          <p:nvPr/>
        </p:nvSpPr>
        <p:spPr>
          <a:xfrm>
            <a:off x="320040" y="4572000"/>
            <a:ext cx="8503920" cy="438912"/>
          </a:xfrm>
          <a:prstGeom prst="rect">
            <a:avLst/>
          </a:prstGeom>
          <a:solidFill>
            <a:srgbClr val="E8F5E9"/>
          </a:solidFill>
          <a:ln w="12700">
            <a:solidFill>
              <a:srgbClr val="66BB6A"/>
            </a:solidFill>
            <a:prstDash val="solid"/>
          </a:ln>
        </p:spPr>
        <p:txBody>
          <a:bodyPr/>
          <a:lstStyle/>
          <a:p>
            <a:endParaRPr lang="en-US"/>
          </a:p>
        </p:txBody>
      </p:sp>
      <p:sp>
        <p:nvSpPr>
          <p:cNvPr id="20" name="Text 18"/>
          <p:cNvSpPr/>
          <p:nvPr/>
        </p:nvSpPr>
        <p:spPr>
          <a:xfrm>
            <a:off x="411480" y="4572000"/>
            <a:ext cx="8321040" cy="438912"/>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Conclusion: Weak but statistically significant positive relationship (ρ = 0.247, p = .026). Consumers who check reviews more frequently tend to trust them slightly more.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Summary of Findings</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4160520"/>
        </p:xfrm>
        <a:graphic>
          <a:graphicData uri="http://schemas.openxmlformats.org/drawingml/2006/table">
            <a:tbl>
              <a:tblPr/>
              <a:tblGrid>
                <a:gridCol w="2057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6934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Statistical Test</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p-value</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Conclusion</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93420">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Wilcoxon Signed-Rank</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0.003</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Reject H₀</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Negative reviews have stronger influence than general trust</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3420">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Mann–Whitney U</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0.937</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Fail to Reject H₀</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No trust difference between return groups</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693420">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Kruskal–Wallis H</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0.443</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latin typeface="Calibri" pitchFamily="34" charset="0"/>
                          <a:ea typeface="Calibri" pitchFamily="34" charset="-122"/>
                          <a:cs typeface="Calibri" pitchFamily="34" charset="-120"/>
                        </a:rPr>
                        <a:t>Fail to Reject H₀</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No trust difference across age groups</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3420">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Chi-Square Test</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0.009</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Reject H₀</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Age is associated with review-checking behavior</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693420">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Spearman Correlation</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0.026</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Reject H₀</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150" dirty="0">
                          <a:solidFill>
                            <a:srgbClr val="4A5568"/>
                          </a:solidFill>
                          <a:latin typeface="Calibri" pitchFamily="34" charset="0"/>
                          <a:ea typeface="Calibri" pitchFamily="34" charset="-122"/>
                          <a:cs typeface="Calibri" pitchFamily="34" charset="-120"/>
                        </a:rPr>
                        <a:t>Weak positive relationship: review-checking &amp; trust</a:t>
                      </a:r>
                      <a:endParaRPr lang="en-US" sz="1150" dirty="0">
                        <a:latin typeface="Calibri" charset="0"/>
                        <a:ea typeface="Calibri" charset="0"/>
                        <a:cs typeface="Calibri" charset="0"/>
                      </a:endParaRPr>
                    </a:p>
                  </a:txBody>
                  <a:tcPr>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274320" y="4892040"/>
            <a:ext cx="8595360" cy="228600"/>
          </a:xfrm>
          <a:prstGeom prst="rect">
            <a:avLst/>
          </a:prstGeom>
          <a:noFill/>
          <a:ln/>
        </p:spPr>
        <p:txBody>
          <a:bodyPr wrap="square" rtlCol="0" anchor="ctr"/>
          <a:lstStyle/>
          <a:p>
            <a:pPr marL="0" indent="0">
              <a:buNone/>
            </a:pPr>
            <a:r>
              <a:rPr lang="en-US" sz="1000" i="1" dirty="0">
                <a:solidFill>
                  <a:srgbClr val="718096"/>
                </a:solidFill>
                <a:latin typeface="Calibri" pitchFamily="34" charset="0"/>
                <a:ea typeface="Calibri" pitchFamily="34" charset="-122"/>
                <a:cs typeface="Calibri" pitchFamily="34" charset="-120"/>
              </a:rPr>
              <a:t>Bold p-values indicate statistical significance at α = 0.05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D7377"/>
          </a:solidFill>
          <a:ln w="12700">
            <a:solidFill>
              <a:srgbClr val="0D7377"/>
            </a:solidFill>
            <a:prstDash val="solid"/>
          </a:ln>
        </p:spPr>
        <p:txBody>
          <a:bodyPr/>
          <a:lstStyle/>
          <a:p>
            <a:endParaRPr lang="en-US"/>
          </a:p>
        </p:txBody>
      </p:sp>
      <p:sp>
        <p:nvSpPr>
          <p:cNvPr id="3" name="Text 1"/>
          <p:cNvSpPr/>
          <p:nvPr/>
        </p:nvSpPr>
        <p:spPr>
          <a:xfrm>
            <a:off x="274320" y="109728"/>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 Limitations &amp; Future Work</a:t>
            </a:r>
            <a:endParaRPr lang="en-US" sz="2200" dirty="0"/>
          </a:p>
        </p:txBody>
      </p:sp>
      <p:sp>
        <p:nvSpPr>
          <p:cNvPr id="4" name="Shape 2"/>
          <p:cNvSpPr/>
          <p:nvPr/>
        </p:nvSpPr>
        <p:spPr>
          <a:xfrm>
            <a:off x="228600" y="713232"/>
            <a:ext cx="2743200" cy="4114799"/>
          </a:xfrm>
          <a:prstGeom prst="rect">
            <a:avLst/>
          </a:prstGeom>
          <a:solidFill>
            <a:srgbClr val="243558"/>
          </a:solidFill>
          <a:ln w="12700">
            <a:solidFill>
              <a:srgbClr val="2D4A6E"/>
            </a:solidFill>
            <a:prstDash val="solid"/>
          </a:ln>
        </p:spPr>
        <p:txBody>
          <a:bodyPr/>
          <a:lstStyle/>
          <a:p>
            <a:endParaRPr lang="en-US"/>
          </a:p>
        </p:txBody>
      </p:sp>
      <p:sp>
        <p:nvSpPr>
          <p:cNvPr id="5" name="Shape 3"/>
          <p:cNvSpPr/>
          <p:nvPr/>
        </p:nvSpPr>
        <p:spPr>
          <a:xfrm>
            <a:off x="228600" y="713232"/>
            <a:ext cx="2743200" cy="402336"/>
          </a:xfrm>
          <a:prstGeom prst="rect">
            <a:avLst/>
          </a:prstGeom>
          <a:solidFill>
            <a:srgbClr val="0D7377"/>
          </a:solidFill>
          <a:ln w="12700">
            <a:solidFill>
              <a:srgbClr val="0D7377"/>
            </a:solidFill>
            <a:prstDash val="solid"/>
          </a:ln>
        </p:spPr>
        <p:txBody>
          <a:bodyPr/>
          <a:lstStyle/>
          <a:p>
            <a:endParaRPr lang="en-US"/>
          </a:p>
        </p:txBody>
      </p:sp>
      <p:sp>
        <p:nvSpPr>
          <p:cNvPr id="6" name="Text 4"/>
          <p:cNvSpPr/>
          <p:nvPr/>
        </p:nvSpPr>
        <p:spPr>
          <a:xfrm>
            <a:off x="320040" y="713232"/>
            <a:ext cx="265176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Key Conclusions</a:t>
            </a:r>
            <a:endParaRPr lang="en-US" sz="1250" dirty="0"/>
          </a:p>
        </p:txBody>
      </p:sp>
      <p:sp>
        <p:nvSpPr>
          <p:cNvPr id="7" name="Text 5"/>
          <p:cNvSpPr/>
          <p:nvPr/>
        </p:nvSpPr>
        <p:spPr>
          <a:xfrm>
            <a:off x="320040" y="1170432"/>
            <a:ext cx="2606040" cy="3657600"/>
          </a:xfrm>
          <a:prstGeom prst="rect">
            <a:avLst/>
          </a:prstGeom>
          <a:noFill/>
          <a:ln/>
        </p:spPr>
        <p:txBody>
          <a:bodyPr wrap="square" rtlCol="0" anchor="t"/>
          <a:lstStyle/>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Online reviews significantly influence purchasing decisions among Pakistani shoppers.</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Negative reviews have a disproportionately stronger impact than general trust levels.</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Age is associated with review-checking behavior — younger consumers check more frequently.</a:t>
            </a:r>
            <a:endParaRPr lang="en-US" sz="1100" dirty="0"/>
          </a:p>
          <a:p>
            <a:pPr marL="342900" indent="-342900">
              <a:buSzPct val="100000"/>
              <a:buChar char="•"/>
            </a:pPr>
            <a:r>
              <a:rPr lang="en-US" sz="1100">
                <a:solidFill>
                  <a:srgbClr val="C5D8EE"/>
                </a:solidFill>
                <a:latin typeface="Calibri" pitchFamily="34" charset="0"/>
                <a:ea typeface="Calibri" pitchFamily="34" charset="-122"/>
                <a:cs typeface="Calibri" pitchFamily="34" charset="-120"/>
              </a:rPr>
              <a:t>Trust </a:t>
            </a:r>
            <a:r>
              <a:rPr lang="en-US" sz="1100" dirty="0">
                <a:solidFill>
                  <a:srgbClr val="C5D8EE"/>
                </a:solidFill>
                <a:latin typeface="Calibri" pitchFamily="34" charset="0"/>
                <a:ea typeface="Calibri" pitchFamily="34" charset="-122"/>
                <a:cs typeface="Calibri" pitchFamily="34" charset="-120"/>
              </a:rPr>
              <a:t>levels do not differ significantly across age groups or by return behavior.</a:t>
            </a:r>
            <a:endParaRPr lang="en-US" sz="1100" dirty="0"/>
          </a:p>
        </p:txBody>
      </p:sp>
      <p:sp>
        <p:nvSpPr>
          <p:cNvPr id="8" name="Shape 6"/>
          <p:cNvSpPr/>
          <p:nvPr/>
        </p:nvSpPr>
        <p:spPr>
          <a:xfrm>
            <a:off x="3154680" y="713233"/>
            <a:ext cx="2743200" cy="4114800"/>
          </a:xfrm>
          <a:prstGeom prst="rect">
            <a:avLst/>
          </a:prstGeom>
          <a:solidFill>
            <a:srgbClr val="243558"/>
          </a:solidFill>
          <a:ln w="12700">
            <a:solidFill>
              <a:srgbClr val="2D4A6E"/>
            </a:solidFill>
            <a:prstDash val="solid"/>
          </a:ln>
        </p:spPr>
        <p:txBody>
          <a:bodyPr/>
          <a:lstStyle/>
          <a:p>
            <a:endParaRPr lang="en-US"/>
          </a:p>
        </p:txBody>
      </p:sp>
      <p:sp>
        <p:nvSpPr>
          <p:cNvPr id="9" name="Shape 7"/>
          <p:cNvSpPr/>
          <p:nvPr/>
        </p:nvSpPr>
        <p:spPr>
          <a:xfrm>
            <a:off x="3154680" y="713232"/>
            <a:ext cx="2743200" cy="402336"/>
          </a:xfrm>
          <a:prstGeom prst="rect">
            <a:avLst/>
          </a:prstGeom>
          <a:solidFill>
            <a:srgbClr val="C8A951"/>
          </a:solidFill>
          <a:ln w="12700">
            <a:solidFill>
              <a:srgbClr val="C8A951"/>
            </a:solidFill>
            <a:prstDash val="solid"/>
          </a:ln>
        </p:spPr>
        <p:txBody>
          <a:bodyPr/>
          <a:lstStyle/>
          <a:p>
            <a:endParaRPr lang="en-US"/>
          </a:p>
        </p:txBody>
      </p:sp>
      <p:sp>
        <p:nvSpPr>
          <p:cNvPr id="10" name="Text 8"/>
          <p:cNvSpPr/>
          <p:nvPr/>
        </p:nvSpPr>
        <p:spPr>
          <a:xfrm>
            <a:off x="3246120" y="713232"/>
            <a:ext cx="265176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Limitations</a:t>
            </a:r>
            <a:endParaRPr lang="en-US" sz="1250" dirty="0"/>
          </a:p>
        </p:txBody>
      </p:sp>
      <p:sp>
        <p:nvSpPr>
          <p:cNvPr id="11" name="Text 9"/>
          <p:cNvSpPr/>
          <p:nvPr/>
        </p:nvSpPr>
        <p:spPr>
          <a:xfrm>
            <a:off x="3246120" y="1170432"/>
            <a:ext cx="2606040" cy="3657600"/>
          </a:xfrm>
          <a:prstGeom prst="rect">
            <a:avLst/>
          </a:prstGeom>
          <a:noFill/>
          <a:ln/>
        </p:spPr>
        <p:txBody>
          <a:bodyPr wrap="square" rtlCol="0" anchor="t"/>
          <a:lstStyle/>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Small sample size (n = 81).</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Predominantly young respondents (55.6% aged 18–22).</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Self-reported data subject to response bias.</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Geographically limited to accessible respondents.</a:t>
            </a:r>
            <a:endParaRPr lang="en-US" sz="1100" dirty="0"/>
          </a:p>
        </p:txBody>
      </p:sp>
      <p:sp>
        <p:nvSpPr>
          <p:cNvPr id="12" name="Shape 10"/>
          <p:cNvSpPr/>
          <p:nvPr/>
        </p:nvSpPr>
        <p:spPr>
          <a:xfrm>
            <a:off x="6080760" y="713232"/>
            <a:ext cx="2743200" cy="4114799"/>
          </a:xfrm>
          <a:prstGeom prst="rect">
            <a:avLst/>
          </a:prstGeom>
          <a:solidFill>
            <a:srgbClr val="243558"/>
          </a:solidFill>
          <a:ln w="12700">
            <a:solidFill>
              <a:srgbClr val="2D4A6E"/>
            </a:solidFill>
            <a:prstDash val="solid"/>
          </a:ln>
        </p:spPr>
        <p:txBody>
          <a:bodyPr/>
          <a:lstStyle/>
          <a:p>
            <a:endParaRPr lang="en-US"/>
          </a:p>
        </p:txBody>
      </p:sp>
      <p:sp>
        <p:nvSpPr>
          <p:cNvPr id="13" name="Shape 11"/>
          <p:cNvSpPr/>
          <p:nvPr/>
        </p:nvSpPr>
        <p:spPr>
          <a:xfrm>
            <a:off x="6080760" y="713232"/>
            <a:ext cx="2743200" cy="402336"/>
          </a:xfrm>
          <a:prstGeom prst="rect">
            <a:avLst/>
          </a:prstGeom>
          <a:solidFill>
            <a:srgbClr val="A78BFA"/>
          </a:solidFill>
          <a:ln w="12700">
            <a:solidFill>
              <a:srgbClr val="A78BFA"/>
            </a:solidFill>
            <a:prstDash val="solid"/>
          </a:ln>
        </p:spPr>
        <p:txBody>
          <a:bodyPr/>
          <a:lstStyle/>
          <a:p>
            <a:endParaRPr lang="en-US"/>
          </a:p>
        </p:txBody>
      </p:sp>
      <p:sp>
        <p:nvSpPr>
          <p:cNvPr id="14" name="Text 12"/>
          <p:cNvSpPr/>
          <p:nvPr/>
        </p:nvSpPr>
        <p:spPr>
          <a:xfrm>
            <a:off x="6172200" y="713232"/>
            <a:ext cx="265176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Future Directions</a:t>
            </a:r>
            <a:endParaRPr lang="en-US" sz="1250" dirty="0"/>
          </a:p>
        </p:txBody>
      </p:sp>
      <p:sp>
        <p:nvSpPr>
          <p:cNvPr id="15" name="Text 13"/>
          <p:cNvSpPr/>
          <p:nvPr/>
        </p:nvSpPr>
        <p:spPr>
          <a:xfrm>
            <a:off x="6172200" y="1170432"/>
            <a:ext cx="2606040" cy="3657600"/>
          </a:xfrm>
          <a:prstGeom prst="rect">
            <a:avLst/>
          </a:prstGeom>
          <a:noFill/>
          <a:ln/>
        </p:spPr>
        <p:txBody>
          <a:bodyPr wrap="square" rtlCol="0" anchor="t"/>
          <a:lstStyle/>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Expand to a larger, more diverse sample.</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Include additional demographics (gender, income, education).</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Compare trust patterns across multiple e-commerce platforms.</a:t>
            </a:r>
            <a:endParaRPr lang="en-US" sz="1100" dirty="0"/>
          </a:p>
          <a:p>
            <a:pPr marL="342900" indent="-342900">
              <a:buSzPct val="100000"/>
              <a:buChar char="•"/>
            </a:pPr>
            <a:r>
              <a:rPr lang="en-US" sz="1100" dirty="0">
                <a:solidFill>
                  <a:srgbClr val="C5D8EE"/>
                </a:solidFill>
                <a:latin typeface="Calibri" pitchFamily="34" charset="0"/>
                <a:ea typeface="Calibri" pitchFamily="34" charset="-122"/>
                <a:cs typeface="Calibri" pitchFamily="34" charset="-120"/>
              </a:rPr>
              <a:t>Conduct longitudinal studies to track trust over time.</a:t>
            </a:r>
            <a:endParaRPr lang="en-US" sz="1100" dirty="0"/>
          </a:p>
        </p:txBody>
      </p:sp>
      <p:sp>
        <p:nvSpPr>
          <p:cNvPr id="16" name="Text 14"/>
          <p:cNvSpPr/>
          <p:nvPr/>
        </p:nvSpPr>
        <p:spPr>
          <a:xfrm>
            <a:off x="0" y="4828031"/>
            <a:ext cx="9144000" cy="310897"/>
          </a:xfrm>
          <a:prstGeom prst="rect">
            <a:avLst/>
          </a:prstGeom>
          <a:noFill/>
          <a:ln/>
        </p:spPr>
        <p:txBody>
          <a:bodyPr wrap="square" rtlCol="0" anchor="ctr"/>
          <a:lstStyle/>
          <a:p>
            <a:pPr marL="0" indent="0" algn="ctr">
              <a:buNone/>
            </a:pPr>
            <a:r>
              <a:rPr lang="en-US" sz="1600" i="1" dirty="0">
                <a:solidFill>
                  <a:srgbClr val="14BDCE"/>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TotalTime>
  <Words>2394</Words>
  <Application>Microsoft Office PowerPoint</Application>
  <PresentationFormat>On-screen Show (16:9)</PresentationFormat>
  <Paragraphs>306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Trust in Online Reviews</dc:title>
  <dc:subject>PptxGenJS Presentation</dc:subject>
  <dc:creator>Adeeha Shahzad &amp; Khansa Aslam</dc:creator>
  <cp:lastModifiedBy>Khansa Aslam</cp:lastModifiedBy>
  <cp:revision>7</cp:revision>
  <dcterms:created xsi:type="dcterms:W3CDTF">2026-06-01T21:26:40Z</dcterms:created>
  <dcterms:modified xsi:type="dcterms:W3CDTF">2026-07-03T18:49:40Z</dcterms:modified>
</cp:coreProperties>
</file>